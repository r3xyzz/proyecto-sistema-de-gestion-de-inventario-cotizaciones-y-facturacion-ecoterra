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“Buenas tardes. Somos Araceli Vega, Ethan Silvestre, Kryshsna Cerda y Benjamín Mateluna, estudiantes de Ingeniería en Informática de Duoc UC.</a:t>
            </a:r>
          </a:p>
          <a:p>
            <a:r>
              <a:rPr lang="en-US"/>
              <a:t/>
            </a:r>
          </a:p>
          <a:p>
            <a:r>
              <a:rPr lang="en-US"/>
              <a:t>Nuestro proyecto APT se denomina ECOTERRA: Sistema de gestión operativa, comercial e inteligencia artificial.</a:t>
            </a:r>
          </a:p>
          <a:p>
            <a:r>
              <a:rPr lang="en-US"/>
              <a:t/>
            </a:r>
          </a:p>
          <a:p>
            <a:r>
              <a:rPr lang="en-US"/>
              <a:t>En esta presentación mostraremos la problemática identificada junto al cliente, la solución que proponemos, nuestros objetivos, metodología, tecnologías y planificación para desarrollar el proyecto.”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“Para comenzar, primero debemos entender el contexto en el que surge esta necesidad.”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“Nuestro cliente es Ecoterra, una empresa dedicada a la comercialización de polímeros utilizados principalmente para el control de polvo y otras aplicaciones industriales.</a:t>
            </a:r>
          </a:p>
          <a:p>
            <a:r>
              <a:rPr lang="en-US"/>
              <a:t/>
            </a:r>
          </a:p>
          <a:p>
            <a:r>
              <a:rPr lang="en-US"/>
              <a:t>Su operación contempla distintas etapas: adquisición de productos desde Estados Unidos, transporte internacional, recepción, almacenamiento, comercialización y finalmente la entrega a sus clientes.</a:t>
            </a:r>
          </a:p>
          <a:p>
            <a:r>
              <a:rPr lang="en-US"/>
              <a:t/>
            </a:r>
          </a:p>
          <a:p>
            <a:r>
              <a:rPr lang="en-US"/>
              <a:t>Debido a esta variedad de procesos, la empresa necesita manejar información relacionada con clientes, productos, inventario, cotizaciones y facturación.</a:t>
            </a:r>
          </a:p>
          <a:p>
            <a:r>
              <a:rPr lang="en-US"/>
              <a:t/>
            </a:r>
          </a:p>
          <a:p>
            <a:r>
              <a:rPr lang="en-US"/>
              <a:t>El problema que identificamos es que esta información y estos procesos no se encuentran suficientemente centralizados y automatizados, lo que dificulta la gestión operativa y comercial.</a:t>
            </a:r>
          </a:p>
          <a:p>
            <a:r>
              <a:rPr lang="en-US"/>
              <a:t/>
            </a:r>
          </a:p>
          <a:p>
            <a:r>
              <a:rPr lang="en-US"/>
              <a:t>Además, existe una oportunidad de mejorar el acceso a información que permita apoyar determinadas decisiones mediante el análisis de datos.</a:t>
            </a:r>
          </a:p>
          <a:p>
            <a:r>
              <a:rPr lang="en-US"/>
              <a:t/>
            </a:r>
          </a:p>
          <a:p>
            <a:r>
              <a:rPr lang="en-US"/>
              <a:t>Por eso, nuestra problemática no se limita solamente al inventario: abarca la gestión integral de los procesos principales de la empresa.”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“A partir de esta problemática, definimos una solución dividida en tres componentes principales.”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“La solución que proponemos consiste en un sistema centralizado compuesto por tres módulos conectados entre sí.</a:t>
            </a:r>
          </a:p>
          <a:p>
            <a:r>
              <a:rPr lang="en-US"/>
              <a:t/>
            </a:r>
          </a:p>
          <a:p>
            <a:r>
              <a:rPr lang="en-US"/>
              <a:t>El primer módulo corresponde a la gestión operativa e inventario, donde se administrarán clientes, direcciones, productos, inventario, usuarios y movimientos.</a:t>
            </a:r>
          </a:p>
          <a:p>
            <a:r>
              <a:rPr lang="en-US"/>
              <a:t/>
            </a:r>
          </a:p>
          <a:p>
            <a:r>
              <a:rPr lang="en-US"/>
              <a:t>El segundo corresponde a cotizaciones y facturación, incorporando cotizaciones, órdenes de compra, facturas, notas de crédito y generación de documentos PDF.</a:t>
            </a:r>
          </a:p>
          <a:p>
            <a:r>
              <a:rPr lang="en-US"/>
              <a:t/>
            </a:r>
          </a:p>
          <a:p>
            <a:r>
              <a:rPr lang="en-US"/>
              <a:t>Finalmente, tenemos nuestro componente diferenciador: el módulo de inteligencia artificial, que contempla tres modelos predictivos: estimación del tiempo de llegada de productos, precio esperado y reposición de inventario.</a:t>
            </a:r>
          </a:p>
          <a:p>
            <a:r>
              <a:rPr lang="en-US"/>
              <a:t/>
            </a:r>
          </a:p>
          <a:p>
            <a:r>
              <a:rPr lang="en-US"/>
              <a:t>Además, el proyecto se relaciona directamente con nuestros intereses profesionales. Araceli se enfocará especialmente en análisis de datos; Kryshsna en gestión de proyectos e ingeniería de datos; yo, Ethan, en programación, arquitectura e inteligencia artificial; y Benjamín en desarrollo backend e integración.</a:t>
            </a:r>
          </a:p>
          <a:p>
            <a:r>
              <a:rPr lang="en-US"/>
              <a:t/>
            </a:r>
          </a:p>
          <a:p>
            <a:r>
              <a:rPr lang="en-US"/>
              <a:t>De esta manera, el proyecto nos permite aplicar distintas áreas de nuestra formación dentro de una misma solución.”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“Con esta solución definida, establecimos un objetivo general y cuatro objetivos específicos que funcionan como los principales hitos del proyecto.”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“Nuestro objetivo general es desarrollar un sistema informático que permita gestionar clientes, inventario, cotizaciones y facturación, incorporando modelos predictivos para Ecoterra.</a:t>
            </a:r>
          </a:p>
          <a:p>
            <a:r>
              <a:rPr lang="en-US"/>
              <a:t/>
            </a:r>
          </a:p>
          <a:p>
            <a:r>
              <a:rPr lang="en-US"/>
              <a:t>Para llevarlo a cabo, definimos cuatro objetivos específicos.</a:t>
            </a:r>
          </a:p>
          <a:p>
            <a:r>
              <a:rPr lang="en-US"/>
              <a:t/>
            </a:r>
          </a:p>
          <a:p>
            <a:r>
              <a:rPr lang="en-US"/>
              <a:t>El primero corresponde al análisis y diseño, donde buscamos documentar los requerimientos, la arquitectura y la estructura de datos. Su indicador será alcanzar un 100% de requerimientos validados.</a:t>
            </a:r>
          </a:p>
          <a:p>
            <a:r>
              <a:rPr lang="en-US"/>
              <a:t/>
            </a:r>
          </a:p>
          <a:p>
            <a:r>
              <a:rPr lang="en-US"/>
              <a:t>El segundo consiste en desarrollar el módulo de gestión operativa e inventario, buscando implementar el 100% de las funcionalidades priorizadas.</a:t>
            </a:r>
          </a:p>
          <a:p>
            <a:r>
              <a:rPr lang="en-US"/>
              <a:t/>
            </a:r>
          </a:p>
          <a:p>
            <a:r>
              <a:rPr lang="en-US"/>
              <a:t>El tercero corresponde al módulo de cotizaciones y facturación, nuevamente con el objetivo de completar el 100% de las funcionalidades priorizadas.</a:t>
            </a:r>
          </a:p>
          <a:p>
            <a:r>
              <a:rPr lang="en-US"/>
              <a:t/>
            </a:r>
          </a:p>
          <a:p>
            <a:r>
              <a:rPr lang="en-US"/>
              <a:t>Finalmente, el cuarto objetivo consiste en implementar e integrar los tres modelos predictivos, cuyo indicador será contar con 3 de 3 modelos implementados.</a:t>
            </a:r>
          </a:p>
          <a:p>
            <a:r>
              <a:rPr lang="en-US"/>
              <a:t/>
            </a:r>
          </a:p>
          <a:p>
            <a:r>
              <a:rPr lang="en-US"/>
              <a:t>Estos cuatro objetivos siguen una secuencia: primero analizamos y diseñamos, después construimos los módulos principales y finalmente incorporamos la inteligencia artificial e integramos la solución.”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“Para alcanzar estos objetivos, definimos una metodología Scrum adaptada al contexto académico.”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“Utilizaremos Scrum adaptado al contexto académico, principalmente porque necesitamos desarrollar el sistema de manera incremental y obtener resultados funcionales durante el proceso, en lugar de esperar hasta el final para tener un producto completo.</a:t>
            </a:r>
          </a:p>
          <a:p>
            <a:r>
              <a:rPr lang="en-US"/>
              <a:t/>
            </a:r>
          </a:p>
          <a:p>
            <a:r>
              <a:rPr lang="en-US"/>
              <a:t>Durante las primeras cuatro semanas tendremos nuestro Sprint 0, enfocado principalmente en la planificación y preparación: levantamiento y validación de requerimientos, Product Backlog, arquitectura, base de datos y prototipos.</a:t>
            </a:r>
          </a:p>
          <a:p>
            <a:r>
              <a:rPr lang="en-US"/>
              <a:t/>
            </a:r>
          </a:p>
          <a:p>
            <a:r>
              <a:rPr lang="en-US"/>
              <a:t>Desde la semana 5 hasta la 15 realizaremos cinco Sprints de desarrollo.</a:t>
            </a:r>
          </a:p>
          <a:p>
            <a:r>
              <a:rPr lang="en-US"/>
              <a:t/>
            </a:r>
          </a:p>
          <a:p>
            <a:r>
              <a:rPr lang="en-US"/>
              <a:t>En el Sprint 1 trabajaremos clientes y direcciones.</a:t>
            </a:r>
          </a:p>
          <a:p>
            <a:r>
              <a:rPr lang="en-US"/>
              <a:t/>
            </a:r>
          </a:p>
          <a:p>
            <a:r>
              <a:rPr lang="en-US"/>
              <a:t>En el Sprint 2, productos, inventario, usuarios y movimientos.</a:t>
            </a:r>
          </a:p>
          <a:p>
            <a:r>
              <a:rPr lang="en-US"/>
              <a:t/>
            </a:r>
          </a:p>
          <a:p>
            <a:r>
              <a:rPr lang="en-US"/>
              <a:t>En el Sprint 3, cotizaciones y órdenes de compra.</a:t>
            </a:r>
          </a:p>
          <a:p>
            <a:r>
              <a:rPr lang="en-US"/>
              <a:t/>
            </a:r>
          </a:p>
          <a:p>
            <a:r>
              <a:rPr lang="en-US"/>
              <a:t>En el Sprint 4, facturación y generación de PDF.</a:t>
            </a:r>
          </a:p>
          <a:p>
            <a:r>
              <a:rPr lang="en-US"/>
              <a:t/>
            </a:r>
          </a:p>
          <a:p>
            <a:r>
              <a:rPr lang="en-US"/>
              <a:t>Y finalmente, en el Sprint 5, trabajaremos los modelos de inteligencia artificial, su integración y las pruebas finales.</a:t>
            </a:r>
          </a:p>
          <a:p>
            <a:r>
              <a:rPr lang="en-US"/>
              <a:t/>
            </a:r>
          </a:p>
          <a:p>
            <a:r>
              <a:rPr lang="en-US"/>
              <a:t>Las semanas 16 a 18 estarán destinadas a la validación final, documentación y presentación.</a:t>
            </a:r>
          </a:p>
          <a:p>
            <a:r>
              <a:rPr lang="en-US"/>
              <a:t/>
            </a:r>
          </a:p>
          <a:p>
            <a:r>
              <a:rPr lang="en-US"/>
              <a:t>En cuanto a los roles, Araceli será Product Owner, debido a su comunicación directa con el cliente; Kryshsna será Scrum Master, encargándose de facilitar la metodología y el seguimiento; y Ethan y Benjamín serán Developers, con responsabilidades diferenciadas en arquitectura, IA, backend e integración.”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“Para implementar la solución proponemos utilizar un stack compuesto por tecnologías que responden a las necesidades de cada componente.</a:t>
            </a:r>
          </a:p>
          <a:p>
            <a:r>
              <a:rPr lang="en-US"/>
              <a:t/>
            </a:r>
          </a:p>
          <a:p>
            <a:r>
              <a:rPr lang="en-US"/>
              <a:t>Para el frontend, utilizaremos React junto con Tailwind, ya que permiten construir interfaces dinámicas y modulares.</a:t>
            </a:r>
          </a:p>
          <a:p>
            <a:r>
              <a:rPr lang="en-US"/>
              <a:t/>
            </a:r>
          </a:p>
          <a:p>
            <a:r>
              <a:rPr lang="en-US"/>
              <a:t>Para el backend y las APIs, utilizaremos Django REST Framework, que permitirá conectar las interfaces con la base de datos y los componentes de inteligencia artificial.</a:t>
            </a:r>
          </a:p>
          <a:p>
            <a:r>
              <a:rPr lang="en-US"/>
              <a:t/>
            </a:r>
          </a:p>
          <a:p>
            <a:r>
              <a:rPr lang="en-US"/>
              <a:t>Como base de datos proponemos PostgreSQL, debido a que nuestro sistema manejará información principalmente relacional, como clientes, productos, inventario, cotizaciones y facturas.</a:t>
            </a:r>
          </a:p>
          <a:p>
            <a:r>
              <a:rPr lang="en-US"/>
              <a:t/>
            </a:r>
          </a:p>
          <a:p>
            <a:r>
              <a:rPr lang="en-US"/>
              <a:t>Para los modelos predictivos utilizaremos Python y Scikit-Learn, aprovechando su ecosistema para procesamiento y modelamiento de datos.</a:t>
            </a:r>
          </a:p>
          <a:p>
            <a:r>
              <a:rPr lang="en-US"/>
              <a:t/>
            </a:r>
          </a:p>
          <a:p>
            <a:r>
              <a:rPr lang="en-US"/>
              <a:t>Además, utilizaremos Figma para prototipos, Trello para gestionar el Product Backlog y los Sprints, y Git con GitHub para el control de versiones y trabajo colaborativo.</a:t>
            </a:r>
          </a:p>
          <a:p>
            <a:r>
              <a:rPr lang="en-US"/>
              <a:t/>
            </a:r>
          </a:p>
          <a:p>
            <a:r>
              <a:rPr lang="en-US"/>
              <a:t>Esta selección es nuestra planificación inicial y puede ajustarse durante el desarrollo si aparece una justificación técnica.”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“Para evaluar la factibilidad del proyecto realizamos un análisis FODA.</a:t>
            </a:r>
          </a:p>
          <a:p>
            <a:r>
              <a:rPr lang="en-US"/>
              <a:t/>
            </a:r>
          </a:p>
          <a:p>
            <a:r>
              <a:rPr lang="en-US"/>
              <a:t>Entre nuestras principales fortalezas tenemos la comunicación directa con Ecoterra, un alcance delimitado, requerimientos previamente validados y un equipo con competencias complementarias.</a:t>
            </a:r>
          </a:p>
          <a:p>
            <a:r>
              <a:rPr lang="en-US"/>
              <a:t/>
            </a:r>
          </a:p>
          <a:p>
            <a:r>
              <a:rPr lang="en-US"/>
              <a:t>Como oportunidades, tenemos la posibilidad de aplicar tecnologías actuales y desarrollar una solución en un contexto empresarial real.</a:t>
            </a:r>
          </a:p>
          <a:p>
            <a:r>
              <a:rPr lang="en-US"/>
              <a:t/>
            </a:r>
          </a:p>
          <a:p>
            <a:r>
              <a:rPr lang="en-US"/>
              <a:t>Entre nuestras debilidades se encuentra principalmente el tiempo académico disponible, la experiencia desigual del equipo y la disponibilidad limitada de datos históricos para los modelos predictivos.</a:t>
            </a:r>
          </a:p>
          <a:p>
            <a:r>
              <a:rPr lang="en-US"/>
              <a:t/>
            </a:r>
          </a:p>
          <a:p>
            <a:r>
              <a:rPr lang="en-US"/>
              <a:t>Finalmente, como amenazas consideramos posibles cambios en los requerimientos, dificultades para coordinar con el cliente y eventuales retrasos durante el desarrollo.</a:t>
            </a:r>
          </a:p>
          <a:p>
            <a:r>
              <a:rPr lang="en-US"/>
              <a:t/>
            </a:r>
          </a:p>
          <a:p>
            <a:r>
              <a:rPr lang="en-US"/>
              <a:t>Consideramos que el proyecto es factible porque contamos con 18 semanas y 90 horas académicas, y además hemos delimitado el alcance. En caso de no disponer de suficientes datos históricos, podremos utilizar datasets simulados para desarrollar inicialmente los modelos.”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“Con estos elementos definidos, establecimos la planificación temporal del proyecto.”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“Nuestra planificación se distribuye en cuatro hitos principales.</a:t>
            </a:r>
          </a:p>
          <a:p>
            <a:r>
              <a:rPr lang="en-US"/>
              <a:t/>
            </a:r>
          </a:p>
          <a:p>
            <a:r>
              <a:rPr lang="en-US"/>
              <a:t>El Hito 1, entre las semanas 1 y 4, corresponde al análisis y diseño.</a:t>
            </a:r>
          </a:p>
          <a:p>
            <a:r>
              <a:rPr lang="en-US"/>
              <a:t/>
            </a:r>
          </a:p>
          <a:p>
            <a:r>
              <a:rPr lang="en-US"/>
              <a:t>El Hito 2, entre las semanas 5 y 10, corresponde al desarrollo de la gestión operativa e inventario.</a:t>
            </a:r>
          </a:p>
          <a:p>
            <a:r>
              <a:rPr lang="en-US"/>
              <a:t/>
            </a:r>
          </a:p>
          <a:p>
            <a:r>
              <a:rPr lang="en-US"/>
              <a:t>El Hito 3, entre las semanas 11 y 13, contempla cotizaciones y facturación.</a:t>
            </a:r>
          </a:p>
          <a:p>
            <a:r>
              <a:rPr lang="en-US"/>
              <a:t/>
            </a:r>
          </a:p>
          <a:p>
            <a:r>
              <a:rPr lang="en-US"/>
              <a:t>El Hito 4, entre las semanas 11 y 15, contempla el desarrollo e integración de los modelos de inteligencia artificial.</a:t>
            </a:r>
          </a:p>
          <a:p>
            <a:r>
              <a:rPr lang="en-US"/>
              <a:t/>
            </a:r>
          </a:p>
          <a:p>
            <a:r>
              <a:rPr lang="en-US"/>
              <a:t>Finalmente, en la semana 15 realizaremos las pruebas finales y entre las semanas 16 y 18 se realizará la documentación, validación y preparación de la presentación.</a:t>
            </a:r>
          </a:p>
          <a:p>
            <a:r>
              <a:rPr lang="en-US"/>
              <a:t/>
            </a:r>
          </a:p>
          <a:p>
            <a:r>
              <a:rPr lang="en-US"/>
              <a:t>La planificación busca que cada Sprint genere un incremento funcional y que el resultado final corresponda a un MVP integrado y validado.”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“En conclusión, nuestro proyecto busca responder a una necesidad concreta de Ecoterra mediante una solución centralizada que integre sus principales procesos operativos y comerciales.</a:t>
            </a:r>
          </a:p>
          <a:p>
            <a:r>
              <a:rPr lang="en-US"/>
              <a:t/>
            </a:r>
          </a:p>
          <a:p>
            <a:r>
              <a:rPr lang="en-US"/>
              <a:t>El sistema permitirá centralizar la información de clientes, productos, inventario, cotizaciones y facturación, reduciendo la fragmentación de estos procesos.</a:t>
            </a:r>
          </a:p>
          <a:p>
            <a:r>
              <a:rPr lang="en-US"/>
              <a:t/>
            </a:r>
          </a:p>
          <a:p>
            <a:r>
              <a:rPr lang="en-US"/>
              <a:t>Además, incorporaremos un componente de inteligencia artificial con tres modelos predictivos, orientados a estimar llegada de productos, precios esperados y reposición de inventario.</a:t>
            </a:r>
          </a:p>
          <a:p>
            <a:r>
              <a:rPr lang="en-US"/>
              <a:t/>
            </a:r>
          </a:p>
          <a:p>
            <a:r>
              <a:rPr lang="en-US"/>
              <a:t>Nuestro resultado esperado es un MVP funcional, integrado y validado con Ecoterra, construido de manera incremental mediante Scrum.</a:t>
            </a:r>
          </a:p>
          <a:p>
            <a:r>
              <a:rPr lang="en-US"/>
              <a:t/>
            </a:r>
          </a:p>
          <a:p>
            <a:r>
              <a:rPr lang="en-US"/>
              <a:t>El siguiente paso es comenzar el desarrollo a partir de la planificación definida, validando cada incremento con el cliente y ajustando la solución según sus necesidades.</a:t>
            </a:r>
          </a:p>
          <a:p>
            <a:r>
              <a:rPr lang="en-US"/>
              <a:t/>
            </a:r>
          </a:p>
          <a:p>
            <a:r>
              <a:rPr lang="en-US"/>
              <a:t>Muchas gracias.”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1.jpe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47.png" Type="http://schemas.openxmlformats.org/officeDocument/2006/relationships/image"/><Relationship Id="rId17" Target="../media/image48.svg" Type="http://schemas.openxmlformats.org/officeDocument/2006/relationships/image"/><Relationship Id="rId18" Target="../media/image49.png" Type="http://schemas.openxmlformats.org/officeDocument/2006/relationships/image"/><Relationship Id="rId19" Target="../media/image50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4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jpeg" Type="http://schemas.openxmlformats.org/officeDocument/2006/relationships/image"/><Relationship Id="rId7" Target="../media/image38.jpe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2075" y="0"/>
            <a:ext cx="9786046" cy="10269386"/>
          </a:xfrm>
          <a:custGeom>
            <a:avLst/>
            <a:gdLst/>
            <a:ahLst/>
            <a:cxnLst/>
            <a:rect r="r" b="b" t="t" l="l"/>
            <a:pathLst>
              <a:path h="10269386" w="9786046">
                <a:moveTo>
                  <a:pt x="0" y="0"/>
                </a:moveTo>
                <a:lnTo>
                  <a:pt x="9786046" y="0"/>
                </a:lnTo>
                <a:lnTo>
                  <a:pt x="9786046" y="10269386"/>
                </a:lnTo>
                <a:lnTo>
                  <a:pt x="0" y="10269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695" t="0" r="-4369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6717" y="1824692"/>
            <a:ext cx="3702463" cy="814955"/>
          </a:xfrm>
          <a:custGeom>
            <a:avLst/>
            <a:gdLst/>
            <a:ahLst/>
            <a:cxnLst/>
            <a:rect r="r" b="b" t="t" l="l"/>
            <a:pathLst>
              <a:path h="814955" w="3702463">
                <a:moveTo>
                  <a:pt x="0" y="0"/>
                </a:moveTo>
                <a:lnTo>
                  <a:pt x="3702463" y="0"/>
                </a:lnTo>
                <a:lnTo>
                  <a:pt x="3702463" y="814955"/>
                </a:lnTo>
                <a:lnTo>
                  <a:pt x="0" y="814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8720" y="2853690"/>
            <a:ext cx="77670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 de gestión operativa,</a:t>
            </a:r>
          </a:p>
          <a:p>
            <a:pPr algn="l">
              <a:lnSpc>
                <a:spcPts val="5220"/>
              </a:lnSpc>
            </a:pPr>
            <a:r>
              <a:rPr lang="en-US" sz="43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comercial e inteligencia artificial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8720" y="4968240"/>
            <a:ext cx="80467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BED2E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APT — Capstone · Fase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" y="6320790"/>
            <a:ext cx="804672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Araceli Vega · Ethan Silvestre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Kryshsna Cerda · Benjamín Mateluna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720" y="8244840"/>
            <a:ext cx="73609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ED2E1"/>
                </a:solidFill>
                <a:latin typeface="Calibri (MS)"/>
                <a:ea typeface="Calibri (MS)"/>
                <a:cs typeface="Calibri (MS)"/>
                <a:sym typeface="Calibri (MS)"/>
              </a:rPr>
              <a:t>Ingeniería en Informática · Duoc UC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05299" y="2057400"/>
            <a:ext cx="6229176" cy="3360420"/>
            <a:chOff x="0" y="0"/>
            <a:chExt cx="8305568" cy="448056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305568" cy="4480560"/>
              <a:chOff x="0" y="0"/>
              <a:chExt cx="1640606" cy="88504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640606" cy="885049"/>
              </a:xfrm>
              <a:custGeom>
                <a:avLst/>
                <a:gdLst/>
                <a:ahLst/>
                <a:cxnLst/>
                <a:rect r="r" b="b" t="t" l="l"/>
                <a:pathLst>
                  <a:path h="885049" w="1640606">
                    <a:moveTo>
                      <a:pt x="0" y="0"/>
                    </a:moveTo>
                    <a:lnTo>
                      <a:pt x="1640606" y="0"/>
                    </a:lnTo>
                    <a:lnTo>
                      <a:pt x="1640606" y="885049"/>
                    </a:lnTo>
                    <a:lnTo>
                      <a:pt x="0" y="88504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BED2E1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640606" cy="9231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28016" cy="4475839"/>
              <a:chOff x="0" y="0"/>
              <a:chExt cx="128016" cy="44758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8016" cy="4475839"/>
              </a:xfrm>
              <a:custGeom>
                <a:avLst/>
                <a:gdLst/>
                <a:ahLst/>
                <a:cxnLst/>
                <a:rect r="r" b="b" t="t" l="l"/>
                <a:pathLst>
                  <a:path h="4475839" w="128016">
                    <a:moveTo>
                      <a:pt x="0" y="0"/>
                    </a:moveTo>
                    <a:lnTo>
                      <a:pt x="128016" y="0"/>
                    </a:lnTo>
                    <a:lnTo>
                      <a:pt x="128016" y="4475839"/>
                    </a:lnTo>
                    <a:lnTo>
                      <a:pt x="0" y="4475839"/>
                    </a:lnTo>
                    <a:close/>
                  </a:path>
                </a:pathLst>
              </a:custGeom>
              <a:solidFill>
                <a:srgbClr val="3F91AB"/>
              </a:solidFill>
            </p:spPr>
          </p:sp>
        </p:grpSp>
      </p:grpSp>
      <p:sp>
        <p:nvSpPr>
          <p:cNvPr name="Freeform 8" id="8"/>
          <p:cNvSpPr/>
          <p:nvPr/>
        </p:nvSpPr>
        <p:spPr>
          <a:xfrm flipH="false" flipV="false" rot="0">
            <a:off x="9134475" y="2057400"/>
            <a:ext cx="6229176" cy="3360420"/>
          </a:xfrm>
          <a:custGeom>
            <a:avLst/>
            <a:gdLst/>
            <a:ahLst/>
            <a:cxnLst/>
            <a:rect r="r" b="b" t="t" l="l"/>
            <a:pathLst>
              <a:path h="3360420" w="6229176">
                <a:moveTo>
                  <a:pt x="0" y="0"/>
                </a:moveTo>
                <a:lnTo>
                  <a:pt x="6229176" y="0"/>
                </a:lnTo>
                <a:lnTo>
                  <a:pt x="6229176" y="3360420"/>
                </a:lnTo>
                <a:lnTo>
                  <a:pt x="0" y="3360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3" r="0" b="-513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345481" y="2183853"/>
            <a:ext cx="696406" cy="786899"/>
          </a:xfrm>
          <a:custGeom>
            <a:avLst/>
            <a:gdLst/>
            <a:ahLst/>
            <a:cxnLst/>
            <a:rect r="r" b="b" t="t" l="l"/>
            <a:pathLst>
              <a:path h="786899" w="696406">
                <a:moveTo>
                  <a:pt x="0" y="0"/>
                </a:moveTo>
                <a:lnTo>
                  <a:pt x="696406" y="0"/>
                </a:lnTo>
                <a:lnTo>
                  <a:pt x="696406" y="786900"/>
                </a:lnTo>
                <a:lnTo>
                  <a:pt x="0" y="786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134475" y="5897880"/>
            <a:ext cx="6229176" cy="3360420"/>
            <a:chOff x="0" y="0"/>
            <a:chExt cx="1640606" cy="8850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77164" y="5897880"/>
            <a:ext cx="96012" cy="3356880"/>
            <a:chOff x="0" y="0"/>
            <a:chExt cx="128016" cy="44758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914824" y="5903595"/>
            <a:ext cx="6229176" cy="3360420"/>
          </a:xfrm>
          <a:custGeom>
            <a:avLst/>
            <a:gdLst/>
            <a:ahLst/>
            <a:cxnLst/>
            <a:rect r="r" b="b" t="t" l="l"/>
            <a:pathLst>
              <a:path h="3360420" w="6229176">
                <a:moveTo>
                  <a:pt x="0" y="0"/>
                </a:moveTo>
                <a:lnTo>
                  <a:pt x="6229176" y="0"/>
                </a:lnTo>
                <a:lnTo>
                  <a:pt x="6229176" y="3360420"/>
                </a:lnTo>
                <a:lnTo>
                  <a:pt x="0" y="33604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098" r="0" b="-12098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173627" y="6101022"/>
            <a:ext cx="842886" cy="729096"/>
          </a:xfrm>
          <a:custGeom>
            <a:avLst/>
            <a:gdLst/>
            <a:ahLst/>
            <a:cxnLst/>
            <a:rect r="r" b="b" t="t" l="l"/>
            <a:pathLst>
              <a:path h="729096" w="842886">
                <a:moveTo>
                  <a:pt x="0" y="0"/>
                </a:moveTo>
                <a:lnTo>
                  <a:pt x="842886" y="0"/>
                </a:lnTo>
                <a:lnTo>
                  <a:pt x="842886" y="729096"/>
                </a:lnTo>
                <a:lnTo>
                  <a:pt x="0" y="7290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2980" y="430530"/>
            <a:ext cx="1622301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Contexto y problemática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4128" y="1350645"/>
            <a:ext cx="163266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La necesidad que origina el proyecto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67860" y="9686925"/>
            <a:ext cx="36576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23475" y="2377278"/>
            <a:ext cx="317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CONTEXTO DE ECOTERRA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45481" y="3232820"/>
            <a:ext cx="5672887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Empresa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dedicada a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polímeros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para el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 de polvo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y otras aplicaciones industriales.</a:t>
            </a:r>
          </a:p>
          <a:p>
            <a:pPr algn="ctr">
              <a:lnSpc>
                <a:spcPts val="2160"/>
              </a:lnSpc>
            </a:pP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Su operación considera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adquisición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desde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EEUU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,</a:t>
            </a:r>
          </a:p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transporte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internacional,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recepción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almacenamiento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comercialización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y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entrega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 clientes.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03060" y="6236970"/>
            <a:ext cx="55134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PROBLEMA CENTRAL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03060" y="6972993"/>
            <a:ext cx="5513454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Falta de centralización y facilidad para gestión de:</a:t>
            </a:r>
          </a:p>
          <a:p>
            <a:pPr algn="ctr">
              <a:lnSpc>
                <a:spcPts val="2160"/>
              </a:lnSpc>
            </a:pP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• Clientes y sus direcciones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Productos e inventario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• Cotizaciones y facturación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• Información para apoyar decisiones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7984" y="3993356"/>
            <a:ext cx="5481923" cy="1676162"/>
            <a:chOff x="0" y="0"/>
            <a:chExt cx="1443799" cy="441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3799" cy="441458"/>
            </a:xfrm>
            <a:custGeom>
              <a:avLst/>
              <a:gdLst/>
              <a:ahLst/>
              <a:cxnLst/>
              <a:rect r="r" b="b" t="t" l="l"/>
              <a:pathLst>
                <a:path h="441458" w="1443799">
                  <a:moveTo>
                    <a:pt x="0" y="0"/>
                  </a:moveTo>
                  <a:lnTo>
                    <a:pt x="1443799" y="0"/>
                  </a:lnTo>
                  <a:lnTo>
                    <a:pt x="1443799" y="441458"/>
                  </a:lnTo>
                  <a:lnTo>
                    <a:pt x="0" y="44145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43846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43799" cy="479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98228" y="3973306"/>
            <a:ext cx="5481923" cy="1696212"/>
            <a:chOff x="0" y="0"/>
            <a:chExt cx="1443799" cy="4467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3799" cy="446739"/>
            </a:xfrm>
            <a:custGeom>
              <a:avLst/>
              <a:gdLst/>
              <a:ahLst/>
              <a:cxnLst/>
              <a:rect r="r" b="b" t="t" l="l"/>
              <a:pathLst>
                <a:path h="446739" w="1443799">
                  <a:moveTo>
                    <a:pt x="0" y="0"/>
                  </a:moveTo>
                  <a:lnTo>
                    <a:pt x="1443799" y="0"/>
                  </a:lnTo>
                  <a:lnTo>
                    <a:pt x="1443799" y="446739"/>
                  </a:lnTo>
                  <a:lnTo>
                    <a:pt x="0" y="446739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CD7E3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43799" cy="484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3973306"/>
            <a:ext cx="5481923" cy="1696212"/>
            <a:chOff x="0" y="0"/>
            <a:chExt cx="1443799" cy="4467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3799" cy="446739"/>
            </a:xfrm>
            <a:custGeom>
              <a:avLst/>
              <a:gdLst/>
              <a:ahLst/>
              <a:cxnLst/>
              <a:rect r="r" b="b" t="t" l="l"/>
              <a:pathLst>
                <a:path h="446739" w="1443799">
                  <a:moveTo>
                    <a:pt x="0" y="0"/>
                  </a:moveTo>
                  <a:lnTo>
                    <a:pt x="1443799" y="0"/>
                  </a:lnTo>
                  <a:lnTo>
                    <a:pt x="1443799" y="446739"/>
                  </a:lnTo>
                  <a:lnTo>
                    <a:pt x="0" y="446739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2A5D9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43799" cy="484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84456" y="2654832"/>
            <a:ext cx="13111614" cy="347662"/>
            <a:chOff x="0" y="0"/>
            <a:chExt cx="17482152" cy="463550"/>
          </a:xfrm>
        </p:grpSpPr>
        <p:sp>
          <p:nvSpPr>
            <p:cNvPr name="AutoShape 14" id="14"/>
            <p:cNvSpPr/>
            <p:nvPr/>
          </p:nvSpPr>
          <p:spPr>
            <a:xfrm flipV="true">
              <a:off x="75" y="180216"/>
              <a:ext cx="17482002" cy="51559"/>
            </a:xfrm>
            <a:prstGeom prst="line">
              <a:avLst/>
            </a:prstGeom>
            <a:ln cap="flat" w="50800">
              <a:solidFill>
                <a:srgbClr val="BED2E1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5" id="15"/>
            <p:cNvGrpSpPr/>
            <p:nvPr/>
          </p:nvGrpSpPr>
          <p:grpSpPr>
            <a:xfrm rot="0">
              <a:off x="4873700" y="0"/>
              <a:ext cx="463550" cy="46355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ED2E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2584512" y="1949582"/>
            <a:ext cx="1894716" cy="1680824"/>
            <a:chOff x="0" y="0"/>
            <a:chExt cx="499020" cy="4426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9020" cy="442686"/>
            </a:xfrm>
            <a:custGeom>
              <a:avLst/>
              <a:gdLst/>
              <a:ahLst/>
              <a:cxnLst/>
              <a:rect r="r" b="b" t="t" l="l"/>
              <a:pathLst>
                <a:path h="442686" w="499020">
                  <a:moveTo>
                    <a:pt x="0" y="0"/>
                  </a:moveTo>
                  <a:lnTo>
                    <a:pt x="499020" y="0"/>
                  </a:lnTo>
                  <a:lnTo>
                    <a:pt x="499020" y="442686"/>
                  </a:lnTo>
                  <a:lnTo>
                    <a:pt x="0" y="442686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99020" cy="48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807784" y="2065908"/>
            <a:ext cx="1448172" cy="1448172"/>
          </a:xfrm>
          <a:custGeom>
            <a:avLst/>
            <a:gdLst/>
            <a:ahLst/>
            <a:cxnLst/>
            <a:rect r="r" b="b" t="t" l="l"/>
            <a:pathLst>
              <a:path h="1448172" w="1448172">
                <a:moveTo>
                  <a:pt x="0" y="0"/>
                </a:moveTo>
                <a:lnTo>
                  <a:pt x="1448172" y="0"/>
                </a:lnTo>
                <a:lnTo>
                  <a:pt x="1448172" y="1448172"/>
                </a:lnTo>
                <a:lnTo>
                  <a:pt x="0" y="1448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191832" y="1949582"/>
            <a:ext cx="1894716" cy="1680824"/>
            <a:chOff x="0" y="0"/>
            <a:chExt cx="499020" cy="4426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9020" cy="442686"/>
            </a:xfrm>
            <a:custGeom>
              <a:avLst/>
              <a:gdLst/>
              <a:ahLst/>
              <a:cxnLst/>
              <a:rect r="r" b="b" t="t" l="l"/>
              <a:pathLst>
                <a:path h="442686" w="499020">
                  <a:moveTo>
                    <a:pt x="0" y="0"/>
                  </a:moveTo>
                  <a:lnTo>
                    <a:pt x="499020" y="0"/>
                  </a:lnTo>
                  <a:lnTo>
                    <a:pt x="499020" y="442686"/>
                  </a:lnTo>
                  <a:lnTo>
                    <a:pt x="0" y="442686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99020" cy="48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801298" y="1949582"/>
            <a:ext cx="1894716" cy="1680824"/>
            <a:chOff x="0" y="0"/>
            <a:chExt cx="499020" cy="44268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020" cy="442686"/>
            </a:xfrm>
            <a:custGeom>
              <a:avLst/>
              <a:gdLst/>
              <a:ahLst/>
              <a:cxnLst/>
              <a:rect r="r" b="b" t="t" l="l"/>
              <a:pathLst>
                <a:path h="442686" w="499020">
                  <a:moveTo>
                    <a:pt x="0" y="0"/>
                  </a:moveTo>
                  <a:lnTo>
                    <a:pt x="499020" y="0"/>
                  </a:lnTo>
                  <a:lnTo>
                    <a:pt x="499020" y="442686"/>
                  </a:lnTo>
                  <a:lnTo>
                    <a:pt x="0" y="442686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9020" cy="48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15348" y="2654832"/>
            <a:ext cx="347662" cy="34766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D2E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488702" y="2065908"/>
            <a:ext cx="1310596" cy="1448172"/>
          </a:xfrm>
          <a:custGeom>
            <a:avLst/>
            <a:gdLst/>
            <a:ahLst/>
            <a:cxnLst/>
            <a:rect r="r" b="b" t="t" l="l"/>
            <a:pathLst>
              <a:path h="1448172" w="1310596">
                <a:moveTo>
                  <a:pt x="0" y="0"/>
                </a:moveTo>
                <a:lnTo>
                  <a:pt x="1310596" y="0"/>
                </a:lnTo>
                <a:lnTo>
                  <a:pt x="1310596" y="1448172"/>
                </a:lnTo>
                <a:lnTo>
                  <a:pt x="0" y="1448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995355" y="2100724"/>
            <a:ext cx="1506601" cy="1378540"/>
          </a:xfrm>
          <a:custGeom>
            <a:avLst/>
            <a:gdLst/>
            <a:ahLst/>
            <a:cxnLst/>
            <a:rect r="r" b="b" t="t" l="l"/>
            <a:pathLst>
              <a:path h="1378540" w="1506601">
                <a:moveTo>
                  <a:pt x="0" y="0"/>
                </a:moveTo>
                <a:lnTo>
                  <a:pt x="1506602" y="0"/>
                </a:lnTo>
                <a:lnTo>
                  <a:pt x="1506602" y="1378540"/>
                </a:lnTo>
                <a:lnTo>
                  <a:pt x="0" y="1378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701182" y="6783943"/>
            <a:ext cx="3870205" cy="2786373"/>
            <a:chOff x="0" y="0"/>
            <a:chExt cx="1019313" cy="7338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9313" cy="733860"/>
            </a:xfrm>
            <a:custGeom>
              <a:avLst/>
              <a:gdLst/>
              <a:ahLst/>
              <a:cxnLst/>
              <a:rect r="r" b="b" t="t" l="l"/>
              <a:pathLst>
                <a:path h="733860" w="1019313">
                  <a:moveTo>
                    <a:pt x="0" y="0"/>
                  </a:moveTo>
                  <a:lnTo>
                    <a:pt x="1019313" y="0"/>
                  </a:lnTo>
                  <a:lnTo>
                    <a:pt x="1019313" y="733860"/>
                  </a:lnTo>
                  <a:lnTo>
                    <a:pt x="0" y="733860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19313" cy="77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949550" y="6783943"/>
            <a:ext cx="3870205" cy="2786373"/>
            <a:chOff x="0" y="0"/>
            <a:chExt cx="1019313" cy="7338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9313" cy="733860"/>
            </a:xfrm>
            <a:custGeom>
              <a:avLst/>
              <a:gdLst/>
              <a:ahLst/>
              <a:cxnLst/>
              <a:rect r="r" b="b" t="t" l="l"/>
              <a:pathLst>
                <a:path h="733860" w="1019313">
                  <a:moveTo>
                    <a:pt x="0" y="0"/>
                  </a:moveTo>
                  <a:lnTo>
                    <a:pt x="1019313" y="0"/>
                  </a:lnTo>
                  <a:lnTo>
                    <a:pt x="1019313" y="733860"/>
                  </a:lnTo>
                  <a:lnTo>
                    <a:pt x="0" y="733860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19313" cy="77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00755" y="6774418"/>
            <a:ext cx="3870205" cy="2786373"/>
            <a:chOff x="0" y="0"/>
            <a:chExt cx="1019313" cy="7338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19313" cy="733860"/>
            </a:xfrm>
            <a:custGeom>
              <a:avLst/>
              <a:gdLst/>
              <a:ahLst/>
              <a:cxnLst/>
              <a:rect r="r" b="b" t="t" l="l"/>
              <a:pathLst>
                <a:path h="733860" w="1019313">
                  <a:moveTo>
                    <a:pt x="0" y="0"/>
                  </a:moveTo>
                  <a:lnTo>
                    <a:pt x="1019313" y="0"/>
                  </a:lnTo>
                  <a:lnTo>
                    <a:pt x="1019313" y="733860"/>
                  </a:lnTo>
                  <a:lnTo>
                    <a:pt x="0" y="733860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19313" cy="77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51960" y="6793468"/>
            <a:ext cx="3870205" cy="2786373"/>
            <a:chOff x="0" y="0"/>
            <a:chExt cx="1019313" cy="7338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9313" cy="733860"/>
            </a:xfrm>
            <a:custGeom>
              <a:avLst/>
              <a:gdLst/>
              <a:ahLst/>
              <a:cxnLst/>
              <a:rect r="r" b="b" t="t" l="l"/>
              <a:pathLst>
                <a:path h="733860" w="1019313">
                  <a:moveTo>
                    <a:pt x="0" y="0"/>
                  </a:moveTo>
                  <a:lnTo>
                    <a:pt x="1019313" y="0"/>
                  </a:lnTo>
                  <a:lnTo>
                    <a:pt x="1019313" y="733860"/>
                  </a:lnTo>
                  <a:lnTo>
                    <a:pt x="0" y="733860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9313" cy="77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45" id="45"/>
          <p:cNvSpPr/>
          <p:nvPr/>
        </p:nvSpPr>
        <p:spPr>
          <a:xfrm>
            <a:off x="701238" y="7386185"/>
            <a:ext cx="377799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4949550" y="7386185"/>
            <a:ext cx="387020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9182862" y="7367135"/>
            <a:ext cx="392302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13379423" y="7386185"/>
            <a:ext cx="39427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462892" y="7929110"/>
            <a:ext cx="2456249" cy="1584280"/>
          </a:xfrm>
          <a:custGeom>
            <a:avLst/>
            <a:gdLst/>
            <a:ahLst/>
            <a:cxnLst/>
            <a:rect r="r" b="b" t="t" l="l"/>
            <a:pathLst>
              <a:path h="1584280" w="2456249">
                <a:moveTo>
                  <a:pt x="0" y="0"/>
                </a:moveTo>
                <a:lnTo>
                  <a:pt x="2456249" y="0"/>
                </a:lnTo>
                <a:lnTo>
                  <a:pt x="2456249" y="1584281"/>
                </a:lnTo>
                <a:lnTo>
                  <a:pt x="0" y="15842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5387298" y="7748135"/>
            <a:ext cx="3110929" cy="1733817"/>
          </a:xfrm>
          <a:custGeom>
            <a:avLst/>
            <a:gdLst/>
            <a:ahLst/>
            <a:cxnLst/>
            <a:rect r="r" b="b" t="t" l="l"/>
            <a:pathLst>
              <a:path h="1733817" w="3110929">
                <a:moveTo>
                  <a:pt x="0" y="0"/>
                </a:moveTo>
                <a:lnTo>
                  <a:pt x="3110929" y="0"/>
                </a:lnTo>
                <a:lnTo>
                  <a:pt x="3110929" y="1733817"/>
                </a:lnTo>
                <a:lnTo>
                  <a:pt x="0" y="17338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-42644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764059" y="7929110"/>
            <a:ext cx="2743596" cy="1463583"/>
          </a:xfrm>
          <a:custGeom>
            <a:avLst/>
            <a:gdLst/>
            <a:ahLst/>
            <a:cxnLst/>
            <a:rect r="r" b="b" t="t" l="l"/>
            <a:pathLst>
              <a:path h="1463583" w="2743596">
                <a:moveTo>
                  <a:pt x="0" y="0"/>
                </a:moveTo>
                <a:lnTo>
                  <a:pt x="2743596" y="0"/>
                </a:lnTo>
                <a:lnTo>
                  <a:pt x="2743596" y="1463583"/>
                </a:lnTo>
                <a:lnTo>
                  <a:pt x="0" y="14635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705" b="-41584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137199" y="7820581"/>
            <a:ext cx="2502796" cy="1651846"/>
          </a:xfrm>
          <a:custGeom>
            <a:avLst/>
            <a:gdLst/>
            <a:ahLst/>
            <a:cxnLst/>
            <a:rect r="r" b="b" t="t" l="l"/>
            <a:pathLst>
              <a:path h="1651846" w="2502796">
                <a:moveTo>
                  <a:pt x="0" y="0"/>
                </a:moveTo>
                <a:lnTo>
                  <a:pt x="2502796" y="0"/>
                </a:lnTo>
                <a:lnTo>
                  <a:pt x="2502796" y="1651846"/>
                </a:lnTo>
                <a:lnTo>
                  <a:pt x="0" y="16518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982980" y="315092"/>
            <a:ext cx="163677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Solución propuesta e intereses profesionales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24128" y="1187582"/>
            <a:ext cx="165257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Tres módulos conectados por una solución centralizada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167860" y="9686925"/>
            <a:ext cx="36576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51560" y="5964793"/>
            <a:ext cx="164820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Intereses profesionales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20140" y="4831318"/>
            <a:ext cx="48234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Clientes · Direcciones · Productos · Inventario · Usuarios · Movimientos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20140" y="4181332"/>
            <a:ext cx="48234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· Gestión operativa e inventario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771132" y="4831318"/>
            <a:ext cx="48234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Cotizaciones · Órdenes de compra · Facturas · Notas de crédito · PDF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771132" y="4181332"/>
            <a:ext cx="48234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· Cotizaciones y facturación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22124" y="4697968"/>
            <a:ext cx="48234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Predicción de: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Llegada producto· Precio esperado · Reposición de inventario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22124" y="4181332"/>
            <a:ext cx="48234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· Inteligencia artificial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73860" y="6860143"/>
            <a:ext cx="37248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Araceli Vega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023647" y="6860143"/>
            <a:ext cx="37248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Kryshsna Cerda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267430" y="6860143"/>
            <a:ext cx="37248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Ethan Silvestre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518635" y="6888718"/>
            <a:ext cx="37248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Benjamín Mateluna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82980" y="7495723"/>
            <a:ext cx="332082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nálisis de datos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072377" y="7505248"/>
            <a:ext cx="362455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Gestió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 de proyectos, ingeniería de datos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467455" y="7529060"/>
            <a:ext cx="332082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Programació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n, arquitectura e IA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728185" y="7529060"/>
            <a:ext cx="332082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 backend e integración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920240"/>
            <a:ext cx="16329184" cy="1400268"/>
            <a:chOff x="0" y="0"/>
            <a:chExt cx="4300690" cy="36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00690" cy="368795"/>
            </a:xfrm>
            <a:custGeom>
              <a:avLst/>
              <a:gdLst/>
              <a:ahLst/>
              <a:cxnLst/>
              <a:rect r="r" b="b" t="t" l="l"/>
              <a:pathLst>
                <a:path h="368795" w="4300690">
                  <a:moveTo>
                    <a:pt x="0" y="0"/>
                  </a:moveTo>
                  <a:lnTo>
                    <a:pt x="4300690" y="0"/>
                  </a:lnTo>
                  <a:lnTo>
                    <a:pt x="4300690" y="368795"/>
                  </a:lnTo>
                  <a:lnTo>
                    <a:pt x="0" y="368795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A5D9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00690" cy="40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67860" y="9686925"/>
            <a:ext cx="36576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777865"/>
            <a:ext cx="16230600" cy="5461635"/>
            <a:chOff x="0" y="0"/>
            <a:chExt cx="2514545" cy="846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4545" cy="846150"/>
            </a:xfrm>
            <a:custGeom>
              <a:avLst/>
              <a:gdLst/>
              <a:ahLst/>
              <a:cxnLst/>
              <a:rect r="r" b="b" t="t" l="l"/>
              <a:pathLst>
                <a:path h="846150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846150"/>
                  </a:lnTo>
                  <a:lnTo>
                    <a:pt x="0" y="846150"/>
                  </a:lnTo>
                  <a:close/>
                </a:path>
              </a:pathLst>
            </a:custGeom>
            <a:blipFill>
              <a:blip r:embed="rId3"/>
              <a:stretch>
                <a:fillRect l="0" t="-49182" r="0" b="-4918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78143" y="4012462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33100" y="4012462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12843" y="4012462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145119" y="4330158"/>
            <a:ext cx="2190750" cy="2190750"/>
          </a:xfrm>
          <a:custGeom>
            <a:avLst/>
            <a:gdLst/>
            <a:ahLst/>
            <a:cxnLst/>
            <a:rect r="r" b="b" t="t" l="l"/>
            <a:pathLst>
              <a:path h="2190750" w="2190750">
                <a:moveTo>
                  <a:pt x="0" y="0"/>
                </a:moveTo>
                <a:lnTo>
                  <a:pt x="2190750" y="0"/>
                </a:lnTo>
                <a:lnTo>
                  <a:pt x="2190750" y="2190750"/>
                </a:lnTo>
                <a:lnTo>
                  <a:pt x="0" y="219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488058" y="4012462"/>
            <a:ext cx="3086100" cy="30861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78143" y="7098562"/>
            <a:ext cx="3112032" cy="1410121"/>
            <a:chOff x="0" y="0"/>
            <a:chExt cx="819630" cy="3713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9630" cy="371390"/>
            </a:xfrm>
            <a:custGeom>
              <a:avLst/>
              <a:gdLst/>
              <a:ahLst/>
              <a:cxnLst/>
              <a:rect r="r" b="b" t="t" l="l"/>
              <a:pathLst>
                <a:path h="371390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71390"/>
                  </a:lnTo>
                  <a:lnTo>
                    <a:pt x="0" y="37139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9630" cy="409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807168" y="7098562"/>
            <a:ext cx="3112032" cy="1503942"/>
            <a:chOff x="0" y="0"/>
            <a:chExt cx="819630" cy="396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9630" cy="396100"/>
            </a:xfrm>
            <a:custGeom>
              <a:avLst/>
              <a:gdLst/>
              <a:ahLst/>
              <a:cxnLst/>
              <a:rect r="r" b="b" t="t" l="l"/>
              <a:pathLst>
                <a:path h="396100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96100"/>
                  </a:lnTo>
                  <a:lnTo>
                    <a:pt x="0" y="396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9630" cy="43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75091" y="7098562"/>
            <a:ext cx="3112032" cy="1503942"/>
            <a:chOff x="0" y="0"/>
            <a:chExt cx="819630" cy="396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9630" cy="396100"/>
            </a:xfrm>
            <a:custGeom>
              <a:avLst/>
              <a:gdLst/>
              <a:ahLst/>
              <a:cxnLst/>
              <a:rect r="r" b="b" t="t" l="l"/>
              <a:pathLst>
                <a:path h="396100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96100"/>
                  </a:lnTo>
                  <a:lnTo>
                    <a:pt x="0" y="396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19630" cy="43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99877" y="7098562"/>
            <a:ext cx="3112032" cy="1503942"/>
            <a:chOff x="0" y="0"/>
            <a:chExt cx="819630" cy="396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9630" cy="396100"/>
            </a:xfrm>
            <a:custGeom>
              <a:avLst/>
              <a:gdLst/>
              <a:ahLst/>
              <a:cxnLst/>
              <a:rect r="r" b="b" t="t" l="l"/>
              <a:pathLst>
                <a:path h="396100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96100"/>
                  </a:lnTo>
                  <a:lnTo>
                    <a:pt x="0" y="396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19630" cy="43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true" flipV="false" rot="0">
            <a:off x="16064815" y="1304538"/>
            <a:ext cx="1840330" cy="1315836"/>
          </a:xfrm>
          <a:custGeom>
            <a:avLst/>
            <a:gdLst/>
            <a:ahLst/>
            <a:cxnLst/>
            <a:rect r="r" b="b" t="t" l="l"/>
            <a:pathLst>
              <a:path h="1315836" w="1840330">
                <a:moveTo>
                  <a:pt x="1840330" y="0"/>
                </a:moveTo>
                <a:lnTo>
                  <a:pt x="0" y="0"/>
                </a:lnTo>
                <a:lnTo>
                  <a:pt x="0" y="1315836"/>
                </a:lnTo>
                <a:lnTo>
                  <a:pt x="1840330" y="1315836"/>
                </a:lnTo>
                <a:lnTo>
                  <a:pt x="18403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24128" y="1291590"/>
            <a:ext cx="162351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Objetivos de Ejecución y Entregables Esperados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5880" y="2475860"/>
            <a:ext cx="156591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Desarrollar</a:t>
            </a:r>
            <a:r>
              <a:rPr lang="en-US" sz="219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un </a:t>
            </a:r>
            <a:r>
              <a:rPr lang="en-US" sz="219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 informático</a:t>
            </a:r>
            <a:r>
              <a:rPr lang="en-US" sz="219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que permita </a:t>
            </a:r>
            <a:r>
              <a:rPr lang="en-US" sz="219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gestionar </a:t>
            </a:r>
            <a:r>
              <a:rPr lang="en-US" sz="219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clientes, inventario, cotizaciones y facturación, incorporando modelos predictivos </a:t>
            </a:r>
            <a:r>
              <a:rPr lang="en-US" sz="219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 Ecoterra</a:t>
            </a:r>
            <a:r>
              <a:rPr lang="en-US" sz="219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5880" y="2052066"/>
            <a:ext cx="15659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general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337813" y="1331595"/>
            <a:ext cx="1840330" cy="1315836"/>
          </a:xfrm>
          <a:custGeom>
            <a:avLst/>
            <a:gdLst/>
            <a:ahLst/>
            <a:cxnLst/>
            <a:rect r="r" b="b" t="t" l="l"/>
            <a:pathLst>
              <a:path h="1315836" w="1840330">
                <a:moveTo>
                  <a:pt x="0" y="0"/>
                </a:moveTo>
                <a:lnTo>
                  <a:pt x="1840330" y="0"/>
                </a:lnTo>
                <a:lnTo>
                  <a:pt x="1840330" y="1315836"/>
                </a:lnTo>
                <a:lnTo>
                  <a:pt x="0" y="13158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553397" y="4460137"/>
            <a:ext cx="2361524" cy="2314294"/>
          </a:xfrm>
          <a:custGeom>
            <a:avLst/>
            <a:gdLst/>
            <a:ahLst/>
            <a:cxnLst/>
            <a:rect r="r" b="b" t="t" l="l"/>
            <a:pathLst>
              <a:path h="2314294" w="2361524">
                <a:moveTo>
                  <a:pt x="0" y="0"/>
                </a:moveTo>
                <a:lnTo>
                  <a:pt x="2361524" y="0"/>
                </a:lnTo>
                <a:lnTo>
                  <a:pt x="2361524" y="2314294"/>
                </a:lnTo>
                <a:lnTo>
                  <a:pt x="0" y="23142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698172" y="5777865"/>
            <a:ext cx="943488" cy="1048321"/>
          </a:xfrm>
          <a:custGeom>
            <a:avLst/>
            <a:gdLst/>
            <a:ahLst/>
            <a:cxnLst/>
            <a:rect r="r" b="b" t="t" l="l"/>
            <a:pathLst>
              <a:path h="1048321" w="943488">
                <a:moveTo>
                  <a:pt x="0" y="0"/>
                </a:moveTo>
                <a:lnTo>
                  <a:pt x="943489" y="0"/>
                </a:lnTo>
                <a:lnTo>
                  <a:pt x="943489" y="1048321"/>
                </a:lnTo>
                <a:lnTo>
                  <a:pt x="0" y="10483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317489" y="6198411"/>
            <a:ext cx="564997" cy="627775"/>
          </a:xfrm>
          <a:custGeom>
            <a:avLst/>
            <a:gdLst/>
            <a:ahLst/>
            <a:cxnLst/>
            <a:rect r="r" b="b" t="t" l="l"/>
            <a:pathLst>
              <a:path h="627775" w="564997">
                <a:moveTo>
                  <a:pt x="0" y="0"/>
                </a:moveTo>
                <a:lnTo>
                  <a:pt x="564997" y="0"/>
                </a:lnTo>
                <a:lnTo>
                  <a:pt x="564997" y="627775"/>
                </a:lnTo>
                <a:lnTo>
                  <a:pt x="0" y="627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007136" y="4404288"/>
            <a:ext cx="2302448" cy="2302448"/>
          </a:xfrm>
          <a:custGeom>
            <a:avLst/>
            <a:gdLst/>
            <a:ahLst/>
            <a:cxnLst/>
            <a:rect r="r" b="b" t="t" l="l"/>
            <a:pathLst>
              <a:path h="2302448" w="2302448">
                <a:moveTo>
                  <a:pt x="0" y="0"/>
                </a:moveTo>
                <a:lnTo>
                  <a:pt x="2302448" y="0"/>
                </a:lnTo>
                <a:lnTo>
                  <a:pt x="2302448" y="2302448"/>
                </a:lnTo>
                <a:lnTo>
                  <a:pt x="0" y="23024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362641" y="4330158"/>
            <a:ext cx="2586503" cy="2586503"/>
          </a:xfrm>
          <a:custGeom>
            <a:avLst/>
            <a:gdLst/>
            <a:ahLst/>
            <a:cxnLst/>
            <a:rect r="r" b="b" t="t" l="l"/>
            <a:pathLst>
              <a:path h="2586503" w="2586503">
                <a:moveTo>
                  <a:pt x="0" y="0"/>
                </a:moveTo>
                <a:lnTo>
                  <a:pt x="2586504" y="0"/>
                </a:lnTo>
                <a:lnTo>
                  <a:pt x="2586504" y="2586503"/>
                </a:lnTo>
                <a:lnTo>
                  <a:pt x="0" y="25865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982980" y="342900"/>
            <a:ext cx="161848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del proyecto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16094" y="7185926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OE1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78404" y="7579995"/>
            <a:ext cx="297631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Analizar y documentar requerimientos, arquitectura y estructura de datos.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171051" y="7166876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OE2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074457" y="7538351"/>
            <a:ext cx="256720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el módulo de gestión operativa e inventario.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13042" y="7136662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OE3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813042" y="7579995"/>
            <a:ext cx="249654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el módulo de cotizaciones y facturación.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437828" y="7166876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OE4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37828" y="7579995"/>
            <a:ext cx="249654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Implementar e integrar tres modelos predictivos.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2178143" y="8484870"/>
            <a:ext cx="3112032" cy="1287514"/>
            <a:chOff x="0" y="0"/>
            <a:chExt cx="819630" cy="33909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9630" cy="339098"/>
            </a:xfrm>
            <a:custGeom>
              <a:avLst/>
              <a:gdLst/>
              <a:ahLst/>
              <a:cxnLst/>
              <a:rect r="r" b="b" t="t" l="l"/>
              <a:pathLst>
                <a:path h="339098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39098"/>
                  </a:lnTo>
                  <a:lnTo>
                    <a:pt x="0" y="33909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19630" cy="3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2414289" y="9001125"/>
            <a:ext cx="270454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de requerimientos validados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475688" y="8545354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KPI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802043" y="8484870"/>
            <a:ext cx="3112032" cy="1287514"/>
            <a:chOff x="0" y="0"/>
            <a:chExt cx="819630" cy="33909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9630" cy="339098"/>
            </a:xfrm>
            <a:custGeom>
              <a:avLst/>
              <a:gdLst/>
              <a:ahLst/>
              <a:cxnLst/>
              <a:rect r="r" b="b" t="t" l="l"/>
              <a:pathLst>
                <a:path h="339098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39098"/>
                  </a:lnTo>
                  <a:lnTo>
                    <a:pt x="0" y="33909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19630" cy="3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038188" y="9001125"/>
            <a:ext cx="270454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funcionalidades priorizadas implementadas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099587" y="8545354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KPI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475091" y="8484870"/>
            <a:ext cx="3112032" cy="1287514"/>
            <a:chOff x="0" y="0"/>
            <a:chExt cx="819630" cy="33909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9630" cy="339098"/>
            </a:xfrm>
            <a:custGeom>
              <a:avLst/>
              <a:gdLst/>
              <a:ahLst/>
              <a:cxnLst/>
              <a:rect r="r" b="b" t="t" l="l"/>
              <a:pathLst>
                <a:path h="339098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39098"/>
                  </a:lnTo>
                  <a:lnTo>
                    <a:pt x="0" y="33909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19630" cy="3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711237" y="9001125"/>
            <a:ext cx="270454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funcionalidades priorizadas implementadas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772636" y="8545354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KPI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3099877" y="8484870"/>
            <a:ext cx="3112032" cy="1287514"/>
            <a:chOff x="0" y="0"/>
            <a:chExt cx="819630" cy="33909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9630" cy="339098"/>
            </a:xfrm>
            <a:custGeom>
              <a:avLst/>
              <a:gdLst/>
              <a:ahLst/>
              <a:cxnLst/>
              <a:rect r="r" b="b" t="t" l="l"/>
              <a:pathLst>
                <a:path h="339098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39098"/>
                  </a:lnTo>
                  <a:lnTo>
                    <a:pt x="0" y="33909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19630" cy="3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3336022" y="9001125"/>
            <a:ext cx="270454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3/3 modelos implementados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397421" y="8545354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KPI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89650" y="3437885"/>
            <a:ext cx="15659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-433771" y="5113080"/>
            <a:ext cx="19155541" cy="0"/>
          </a:xfrm>
          <a:prstGeom prst="line">
            <a:avLst/>
          </a:prstGeom>
          <a:ln cap="flat" w="95250">
            <a:solidFill>
              <a:srgbClr val="DBE0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18939" y="1884045"/>
            <a:ext cx="4324541" cy="2995482"/>
            <a:chOff x="0" y="0"/>
            <a:chExt cx="1138974" cy="788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8974" cy="788934"/>
            </a:xfrm>
            <a:custGeom>
              <a:avLst/>
              <a:gdLst/>
              <a:ahLst/>
              <a:cxnLst/>
              <a:rect r="r" b="b" t="t" l="l"/>
              <a:pathLst>
                <a:path h="788934" w="1138974">
                  <a:moveTo>
                    <a:pt x="0" y="0"/>
                  </a:moveTo>
                  <a:lnTo>
                    <a:pt x="1138974" y="0"/>
                  </a:lnTo>
                  <a:lnTo>
                    <a:pt x="1138974" y="788934"/>
                  </a:lnTo>
                  <a:lnTo>
                    <a:pt x="0" y="788934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38974" cy="827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73532" y="5619223"/>
            <a:ext cx="59242" cy="2441497"/>
            <a:chOff x="0" y="0"/>
            <a:chExt cx="78989" cy="32553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989" cy="3255329"/>
            </a:xfrm>
            <a:custGeom>
              <a:avLst/>
              <a:gdLst/>
              <a:ahLst/>
              <a:cxnLst/>
              <a:rect r="r" b="b" t="t" l="l"/>
              <a:pathLst>
                <a:path h="3255329" w="78989">
                  <a:moveTo>
                    <a:pt x="0" y="0"/>
                  </a:moveTo>
                  <a:lnTo>
                    <a:pt x="78989" y="0"/>
                  </a:lnTo>
                  <a:lnTo>
                    <a:pt x="78989" y="3255329"/>
                  </a:lnTo>
                  <a:lnTo>
                    <a:pt x="0" y="3255329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86101" y="2058384"/>
            <a:ext cx="3980156" cy="2646804"/>
          </a:xfrm>
          <a:custGeom>
            <a:avLst/>
            <a:gdLst/>
            <a:ahLst/>
            <a:cxnLst/>
            <a:rect r="r" b="b" t="t" l="l"/>
            <a:pathLst>
              <a:path h="2646804" w="3980156">
                <a:moveTo>
                  <a:pt x="0" y="0"/>
                </a:moveTo>
                <a:lnTo>
                  <a:pt x="3980157" y="0"/>
                </a:lnTo>
                <a:lnTo>
                  <a:pt x="3980157" y="2646804"/>
                </a:lnTo>
                <a:lnTo>
                  <a:pt x="0" y="2646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3080985" y="4544153"/>
            <a:ext cx="1000448" cy="100044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86860" y="5386988"/>
            <a:ext cx="588699" cy="335158"/>
            <a:chOff x="0" y="0"/>
            <a:chExt cx="339602" cy="1933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9602" cy="193343"/>
            </a:xfrm>
            <a:custGeom>
              <a:avLst/>
              <a:gdLst/>
              <a:ahLst/>
              <a:cxnLst/>
              <a:rect r="r" b="b" t="t" l="l"/>
              <a:pathLst>
                <a:path h="193343" w="339602">
                  <a:moveTo>
                    <a:pt x="169801" y="0"/>
                  </a:moveTo>
                  <a:lnTo>
                    <a:pt x="339602" y="193343"/>
                  </a:lnTo>
                  <a:lnTo>
                    <a:pt x="0" y="193343"/>
                  </a:lnTo>
                  <a:lnTo>
                    <a:pt x="169801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53063" y="51666"/>
              <a:ext cx="233477" cy="127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3532" y="5619223"/>
            <a:ext cx="3605295" cy="2444072"/>
            <a:chOff x="0" y="0"/>
            <a:chExt cx="949543" cy="6437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9543" cy="643706"/>
            </a:xfrm>
            <a:custGeom>
              <a:avLst/>
              <a:gdLst/>
              <a:ahLst/>
              <a:cxnLst/>
              <a:rect r="r" b="b" t="t" l="l"/>
              <a:pathLst>
                <a:path h="643706" w="949543">
                  <a:moveTo>
                    <a:pt x="0" y="0"/>
                  </a:moveTo>
                  <a:lnTo>
                    <a:pt x="949543" y="0"/>
                  </a:lnTo>
                  <a:lnTo>
                    <a:pt x="949543" y="643706"/>
                  </a:lnTo>
                  <a:lnTo>
                    <a:pt x="0" y="64370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49543" cy="681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284742" y="4749392"/>
            <a:ext cx="592935" cy="589971"/>
          </a:xfrm>
          <a:custGeom>
            <a:avLst/>
            <a:gdLst/>
            <a:ahLst/>
            <a:cxnLst/>
            <a:rect r="r" b="b" t="t" l="l"/>
            <a:pathLst>
              <a:path h="589971" w="592935">
                <a:moveTo>
                  <a:pt x="0" y="0"/>
                </a:moveTo>
                <a:lnTo>
                  <a:pt x="592935" y="0"/>
                </a:lnTo>
                <a:lnTo>
                  <a:pt x="592935" y="589971"/>
                </a:lnTo>
                <a:lnTo>
                  <a:pt x="0" y="589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991255" y="1907127"/>
            <a:ext cx="4324541" cy="2995482"/>
            <a:chOff x="0" y="0"/>
            <a:chExt cx="1138974" cy="7889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8974" cy="788934"/>
            </a:xfrm>
            <a:custGeom>
              <a:avLst/>
              <a:gdLst/>
              <a:ahLst/>
              <a:cxnLst/>
              <a:rect r="r" b="b" t="t" l="l"/>
              <a:pathLst>
                <a:path h="788934" w="1138974">
                  <a:moveTo>
                    <a:pt x="0" y="0"/>
                  </a:moveTo>
                  <a:lnTo>
                    <a:pt x="1138974" y="0"/>
                  </a:lnTo>
                  <a:lnTo>
                    <a:pt x="1138974" y="788934"/>
                  </a:lnTo>
                  <a:lnTo>
                    <a:pt x="0" y="788934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38974" cy="827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97903" y="5706123"/>
            <a:ext cx="77415" cy="2441497"/>
            <a:chOff x="0" y="0"/>
            <a:chExt cx="103220" cy="32553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220" cy="3255329"/>
            </a:xfrm>
            <a:custGeom>
              <a:avLst/>
              <a:gdLst/>
              <a:ahLst/>
              <a:cxnLst/>
              <a:rect r="r" b="b" t="t" l="l"/>
              <a:pathLst>
                <a:path h="3255329" w="103220">
                  <a:moveTo>
                    <a:pt x="0" y="0"/>
                  </a:moveTo>
                  <a:lnTo>
                    <a:pt x="103220" y="0"/>
                  </a:lnTo>
                  <a:lnTo>
                    <a:pt x="103220" y="3255329"/>
                  </a:lnTo>
                  <a:lnTo>
                    <a:pt x="0" y="3255329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7158417" y="2081466"/>
            <a:ext cx="3980156" cy="2646804"/>
          </a:xfrm>
          <a:custGeom>
            <a:avLst/>
            <a:gdLst/>
            <a:ahLst/>
            <a:cxnLst/>
            <a:rect r="r" b="b" t="t" l="l"/>
            <a:pathLst>
              <a:path h="2646804" w="3980156">
                <a:moveTo>
                  <a:pt x="0" y="0"/>
                </a:moveTo>
                <a:lnTo>
                  <a:pt x="3980156" y="0"/>
                </a:lnTo>
                <a:lnTo>
                  <a:pt x="3980156" y="2646804"/>
                </a:lnTo>
                <a:lnTo>
                  <a:pt x="0" y="2646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8653301" y="4567235"/>
            <a:ext cx="1000448" cy="100044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859175" y="5410070"/>
            <a:ext cx="588699" cy="335158"/>
            <a:chOff x="0" y="0"/>
            <a:chExt cx="339602" cy="1933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9602" cy="193343"/>
            </a:xfrm>
            <a:custGeom>
              <a:avLst/>
              <a:gdLst/>
              <a:ahLst/>
              <a:cxnLst/>
              <a:rect r="r" b="b" t="t" l="l"/>
              <a:pathLst>
                <a:path h="193343" w="339602">
                  <a:moveTo>
                    <a:pt x="169801" y="0"/>
                  </a:moveTo>
                  <a:lnTo>
                    <a:pt x="339602" y="193343"/>
                  </a:lnTo>
                  <a:lnTo>
                    <a:pt x="0" y="193343"/>
                  </a:lnTo>
                  <a:lnTo>
                    <a:pt x="169801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53063" y="51666"/>
              <a:ext cx="233477" cy="127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97903" y="5706123"/>
            <a:ext cx="4711245" cy="2444072"/>
            <a:chOff x="0" y="0"/>
            <a:chExt cx="1240822" cy="6437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40822" cy="643706"/>
            </a:xfrm>
            <a:custGeom>
              <a:avLst/>
              <a:gdLst/>
              <a:ahLst/>
              <a:cxnLst/>
              <a:rect r="r" b="b" t="t" l="l"/>
              <a:pathLst>
                <a:path h="643706" w="1240822">
                  <a:moveTo>
                    <a:pt x="0" y="0"/>
                  </a:moveTo>
                  <a:lnTo>
                    <a:pt x="1240822" y="0"/>
                  </a:lnTo>
                  <a:lnTo>
                    <a:pt x="1240822" y="643706"/>
                  </a:lnTo>
                  <a:lnTo>
                    <a:pt x="0" y="64370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240822" cy="681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563570" y="1907127"/>
            <a:ext cx="4324541" cy="2995482"/>
            <a:chOff x="0" y="0"/>
            <a:chExt cx="1138974" cy="7889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8974" cy="788934"/>
            </a:xfrm>
            <a:custGeom>
              <a:avLst/>
              <a:gdLst/>
              <a:ahLst/>
              <a:cxnLst/>
              <a:rect r="r" b="b" t="t" l="l"/>
              <a:pathLst>
                <a:path h="788934" w="1138974">
                  <a:moveTo>
                    <a:pt x="0" y="0"/>
                  </a:moveTo>
                  <a:lnTo>
                    <a:pt x="1138974" y="0"/>
                  </a:lnTo>
                  <a:lnTo>
                    <a:pt x="1138974" y="788934"/>
                  </a:lnTo>
                  <a:lnTo>
                    <a:pt x="0" y="788934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138974" cy="827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918163" y="5642305"/>
            <a:ext cx="59242" cy="2441497"/>
            <a:chOff x="0" y="0"/>
            <a:chExt cx="78989" cy="32553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8989" cy="3255329"/>
            </a:xfrm>
            <a:custGeom>
              <a:avLst/>
              <a:gdLst/>
              <a:ahLst/>
              <a:cxnLst/>
              <a:rect r="r" b="b" t="t" l="l"/>
              <a:pathLst>
                <a:path h="3255329" w="78989">
                  <a:moveTo>
                    <a:pt x="0" y="0"/>
                  </a:moveTo>
                  <a:lnTo>
                    <a:pt x="78989" y="0"/>
                  </a:lnTo>
                  <a:lnTo>
                    <a:pt x="78989" y="3255329"/>
                  </a:lnTo>
                  <a:lnTo>
                    <a:pt x="0" y="3255329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2730732" y="2081466"/>
            <a:ext cx="3980156" cy="2646804"/>
          </a:xfrm>
          <a:custGeom>
            <a:avLst/>
            <a:gdLst/>
            <a:ahLst/>
            <a:cxnLst/>
            <a:rect r="r" b="b" t="t" l="l"/>
            <a:pathLst>
              <a:path h="2646804" w="3980156">
                <a:moveTo>
                  <a:pt x="0" y="0"/>
                </a:moveTo>
                <a:lnTo>
                  <a:pt x="3980157" y="0"/>
                </a:lnTo>
                <a:lnTo>
                  <a:pt x="3980157" y="2646804"/>
                </a:lnTo>
                <a:lnTo>
                  <a:pt x="0" y="2646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grpSp>
        <p:nvGrpSpPr>
          <p:cNvPr name="Group 42" id="42"/>
          <p:cNvGrpSpPr/>
          <p:nvPr/>
        </p:nvGrpSpPr>
        <p:grpSpPr>
          <a:xfrm rot="0">
            <a:off x="14225616" y="4567235"/>
            <a:ext cx="1000448" cy="1000448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431491" y="5410070"/>
            <a:ext cx="588699" cy="335158"/>
            <a:chOff x="0" y="0"/>
            <a:chExt cx="339602" cy="19334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9602" cy="193343"/>
            </a:xfrm>
            <a:custGeom>
              <a:avLst/>
              <a:gdLst/>
              <a:ahLst/>
              <a:cxnLst/>
              <a:rect r="r" b="b" t="t" l="l"/>
              <a:pathLst>
                <a:path h="193343" w="339602">
                  <a:moveTo>
                    <a:pt x="169801" y="0"/>
                  </a:moveTo>
                  <a:lnTo>
                    <a:pt x="339602" y="193343"/>
                  </a:lnTo>
                  <a:lnTo>
                    <a:pt x="0" y="193343"/>
                  </a:lnTo>
                  <a:lnTo>
                    <a:pt x="169801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53063" y="51666"/>
              <a:ext cx="233477" cy="127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918163" y="5642305"/>
            <a:ext cx="3605295" cy="2444072"/>
            <a:chOff x="0" y="0"/>
            <a:chExt cx="949543" cy="6437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49543" cy="643706"/>
            </a:xfrm>
            <a:custGeom>
              <a:avLst/>
              <a:gdLst/>
              <a:ahLst/>
              <a:cxnLst/>
              <a:rect r="r" b="b" t="t" l="l"/>
              <a:pathLst>
                <a:path h="643706" w="949543">
                  <a:moveTo>
                    <a:pt x="0" y="0"/>
                  </a:moveTo>
                  <a:lnTo>
                    <a:pt x="949543" y="0"/>
                  </a:lnTo>
                  <a:lnTo>
                    <a:pt x="949543" y="643706"/>
                  </a:lnTo>
                  <a:lnTo>
                    <a:pt x="0" y="64370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49543" cy="681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8762366" y="4691144"/>
            <a:ext cx="744218" cy="695843"/>
          </a:xfrm>
          <a:custGeom>
            <a:avLst/>
            <a:gdLst/>
            <a:ahLst/>
            <a:cxnLst/>
            <a:rect r="r" b="b" t="t" l="l"/>
            <a:pathLst>
              <a:path h="695843" w="744218">
                <a:moveTo>
                  <a:pt x="0" y="0"/>
                </a:moveTo>
                <a:lnTo>
                  <a:pt x="744218" y="0"/>
                </a:lnTo>
                <a:lnTo>
                  <a:pt x="744218" y="695844"/>
                </a:lnTo>
                <a:lnTo>
                  <a:pt x="0" y="6958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499597" y="4705188"/>
            <a:ext cx="452487" cy="711446"/>
          </a:xfrm>
          <a:custGeom>
            <a:avLst/>
            <a:gdLst/>
            <a:ahLst/>
            <a:cxnLst/>
            <a:rect r="r" b="b" t="t" l="l"/>
            <a:pathLst>
              <a:path h="711446" w="452487">
                <a:moveTo>
                  <a:pt x="0" y="0"/>
                </a:moveTo>
                <a:lnTo>
                  <a:pt x="452487" y="0"/>
                </a:lnTo>
                <a:lnTo>
                  <a:pt x="452487" y="711446"/>
                </a:lnTo>
                <a:lnTo>
                  <a:pt x="0" y="7114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888613" y="8520495"/>
            <a:ext cx="3714347" cy="1378491"/>
            <a:chOff x="0" y="0"/>
            <a:chExt cx="978264" cy="3630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8264" cy="363059"/>
            </a:xfrm>
            <a:custGeom>
              <a:avLst/>
              <a:gdLst/>
              <a:ahLst/>
              <a:cxnLst/>
              <a:rect r="r" b="b" t="t" l="l"/>
              <a:pathLst>
                <a:path h="363059" w="978264">
                  <a:moveTo>
                    <a:pt x="0" y="0"/>
                  </a:moveTo>
                  <a:lnTo>
                    <a:pt x="978264" y="0"/>
                  </a:lnTo>
                  <a:lnTo>
                    <a:pt x="978264" y="363059"/>
                  </a:lnTo>
                  <a:lnTo>
                    <a:pt x="0" y="36305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8264" cy="401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88613" y="8520495"/>
            <a:ext cx="70458" cy="1377038"/>
            <a:chOff x="0" y="0"/>
            <a:chExt cx="93944" cy="18360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944" cy="1836051"/>
            </a:xfrm>
            <a:custGeom>
              <a:avLst/>
              <a:gdLst/>
              <a:ahLst/>
              <a:cxnLst/>
              <a:rect r="r" b="b" t="t" l="l"/>
              <a:pathLst>
                <a:path h="1836051" w="93944">
                  <a:moveTo>
                    <a:pt x="0" y="0"/>
                  </a:moveTo>
                  <a:lnTo>
                    <a:pt x="93944" y="0"/>
                  </a:lnTo>
                  <a:lnTo>
                    <a:pt x="93944" y="1836051"/>
                  </a:lnTo>
                  <a:lnTo>
                    <a:pt x="0" y="1836051"/>
                  </a:lnTo>
                  <a:close/>
                </a:path>
              </a:pathLst>
            </a:custGeom>
            <a:solidFill>
              <a:srgbClr val="438468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1186737" y="8699710"/>
            <a:ext cx="965802" cy="980510"/>
          </a:xfrm>
          <a:custGeom>
            <a:avLst/>
            <a:gdLst/>
            <a:ahLst/>
            <a:cxnLst/>
            <a:rect r="r" b="b" t="t" l="l"/>
            <a:pathLst>
              <a:path h="980510" w="965802">
                <a:moveTo>
                  <a:pt x="0" y="0"/>
                </a:moveTo>
                <a:lnTo>
                  <a:pt x="965802" y="0"/>
                </a:lnTo>
                <a:lnTo>
                  <a:pt x="965802" y="980509"/>
                </a:lnTo>
                <a:lnTo>
                  <a:pt x="0" y="9805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5077097" y="8520495"/>
            <a:ext cx="3714347" cy="1378491"/>
            <a:chOff x="0" y="0"/>
            <a:chExt cx="978264" cy="3630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8264" cy="363059"/>
            </a:xfrm>
            <a:custGeom>
              <a:avLst/>
              <a:gdLst/>
              <a:ahLst/>
              <a:cxnLst/>
              <a:rect r="r" b="b" t="t" l="l"/>
              <a:pathLst>
                <a:path h="363059" w="978264">
                  <a:moveTo>
                    <a:pt x="0" y="0"/>
                  </a:moveTo>
                  <a:lnTo>
                    <a:pt x="978264" y="0"/>
                  </a:lnTo>
                  <a:lnTo>
                    <a:pt x="978264" y="363059"/>
                  </a:lnTo>
                  <a:lnTo>
                    <a:pt x="0" y="36305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78264" cy="401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77097" y="8520495"/>
            <a:ext cx="70458" cy="1377038"/>
            <a:chOff x="0" y="0"/>
            <a:chExt cx="93944" cy="18360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944" cy="1836051"/>
            </a:xfrm>
            <a:custGeom>
              <a:avLst/>
              <a:gdLst/>
              <a:ahLst/>
              <a:cxnLst/>
              <a:rect r="r" b="b" t="t" l="l"/>
              <a:pathLst>
                <a:path h="1836051" w="93944">
                  <a:moveTo>
                    <a:pt x="0" y="0"/>
                  </a:moveTo>
                  <a:lnTo>
                    <a:pt x="93944" y="0"/>
                  </a:lnTo>
                  <a:lnTo>
                    <a:pt x="93944" y="1836051"/>
                  </a:lnTo>
                  <a:lnTo>
                    <a:pt x="0" y="1836051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sp>
        <p:nvSpPr>
          <p:cNvPr name="Freeform 64" id="64"/>
          <p:cNvSpPr/>
          <p:nvPr/>
        </p:nvSpPr>
        <p:spPr>
          <a:xfrm flipH="false" flipV="false" rot="0">
            <a:off x="5376156" y="8688167"/>
            <a:ext cx="1003596" cy="1003596"/>
          </a:xfrm>
          <a:custGeom>
            <a:avLst/>
            <a:gdLst/>
            <a:ahLst/>
            <a:cxnLst/>
            <a:rect r="r" b="b" t="t" l="l"/>
            <a:pathLst>
              <a:path h="1003596" w="1003596">
                <a:moveTo>
                  <a:pt x="0" y="0"/>
                </a:moveTo>
                <a:lnTo>
                  <a:pt x="1003596" y="0"/>
                </a:lnTo>
                <a:lnTo>
                  <a:pt x="1003596" y="1003595"/>
                </a:lnTo>
                <a:lnTo>
                  <a:pt x="0" y="10035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9267694" y="8520495"/>
            <a:ext cx="3714347" cy="1378491"/>
            <a:chOff x="0" y="0"/>
            <a:chExt cx="978264" cy="3630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8264" cy="363059"/>
            </a:xfrm>
            <a:custGeom>
              <a:avLst/>
              <a:gdLst/>
              <a:ahLst/>
              <a:cxnLst/>
              <a:rect r="r" b="b" t="t" l="l"/>
              <a:pathLst>
                <a:path h="363059" w="978264">
                  <a:moveTo>
                    <a:pt x="0" y="0"/>
                  </a:moveTo>
                  <a:lnTo>
                    <a:pt x="978264" y="0"/>
                  </a:lnTo>
                  <a:lnTo>
                    <a:pt x="978264" y="363059"/>
                  </a:lnTo>
                  <a:lnTo>
                    <a:pt x="0" y="36305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78264" cy="401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267694" y="8520495"/>
            <a:ext cx="70458" cy="1377038"/>
            <a:chOff x="0" y="0"/>
            <a:chExt cx="93944" cy="18360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3944" cy="1836051"/>
            </a:xfrm>
            <a:custGeom>
              <a:avLst/>
              <a:gdLst/>
              <a:ahLst/>
              <a:cxnLst/>
              <a:rect r="r" b="b" t="t" l="l"/>
              <a:pathLst>
                <a:path h="1836051" w="93944">
                  <a:moveTo>
                    <a:pt x="0" y="0"/>
                  </a:moveTo>
                  <a:lnTo>
                    <a:pt x="93944" y="0"/>
                  </a:lnTo>
                  <a:lnTo>
                    <a:pt x="93944" y="1836051"/>
                  </a:lnTo>
                  <a:lnTo>
                    <a:pt x="0" y="1836051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9582590" y="8688167"/>
            <a:ext cx="973334" cy="1013890"/>
          </a:xfrm>
          <a:custGeom>
            <a:avLst/>
            <a:gdLst/>
            <a:ahLst/>
            <a:cxnLst/>
            <a:rect r="r" b="b" t="t" l="l"/>
            <a:pathLst>
              <a:path h="1013890" w="973334">
                <a:moveTo>
                  <a:pt x="0" y="0"/>
                </a:moveTo>
                <a:lnTo>
                  <a:pt x="973334" y="0"/>
                </a:lnTo>
                <a:lnTo>
                  <a:pt x="973334" y="1013889"/>
                </a:lnTo>
                <a:lnTo>
                  <a:pt x="0" y="10138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3458291" y="8537034"/>
            <a:ext cx="3714347" cy="1378491"/>
            <a:chOff x="0" y="0"/>
            <a:chExt cx="978264" cy="36305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8264" cy="363059"/>
            </a:xfrm>
            <a:custGeom>
              <a:avLst/>
              <a:gdLst/>
              <a:ahLst/>
              <a:cxnLst/>
              <a:rect r="r" b="b" t="t" l="l"/>
              <a:pathLst>
                <a:path h="363059" w="978264">
                  <a:moveTo>
                    <a:pt x="0" y="0"/>
                  </a:moveTo>
                  <a:lnTo>
                    <a:pt x="978264" y="0"/>
                  </a:lnTo>
                  <a:lnTo>
                    <a:pt x="978264" y="363059"/>
                  </a:lnTo>
                  <a:lnTo>
                    <a:pt x="0" y="36305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78264" cy="401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458291" y="8537034"/>
            <a:ext cx="70458" cy="1377038"/>
            <a:chOff x="0" y="0"/>
            <a:chExt cx="93944" cy="183605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3944" cy="1836051"/>
            </a:xfrm>
            <a:custGeom>
              <a:avLst/>
              <a:gdLst/>
              <a:ahLst/>
              <a:cxnLst/>
              <a:rect r="r" b="b" t="t" l="l"/>
              <a:pathLst>
                <a:path h="1836051" w="93944">
                  <a:moveTo>
                    <a:pt x="0" y="0"/>
                  </a:moveTo>
                  <a:lnTo>
                    <a:pt x="93944" y="0"/>
                  </a:lnTo>
                  <a:lnTo>
                    <a:pt x="93944" y="1836051"/>
                  </a:lnTo>
                  <a:lnTo>
                    <a:pt x="0" y="1836051"/>
                  </a:lnTo>
                  <a:close/>
                </a:path>
              </a:pathLst>
            </a:custGeom>
            <a:solidFill>
              <a:srgbClr val="3F91AB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3655975" y="8657736"/>
            <a:ext cx="1174592" cy="1074751"/>
          </a:xfrm>
          <a:custGeom>
            <a:avLst/>
            <a:gdLst/>
            <a:ahLst/>
            <a:cxnLst/>
            <a:rect r="r" b="b" t="t" l="l"/>
            <a:pathLst>
              <a:path h="1074751" w="1174592">
                <a:moveTo>
                  <a:pt x="0" y="0"/>
                </a:moveTo>
                <a:lnTo>
                  <a:pt x="1174591" y="0"/>
                </a:lnTo>
                <a:lnTo>
                  <a:pt x="1174591" y="1074751"/>
                </a:lnTo>
                <a:lnTo>
                  <a:pt x="0" y="107475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982980" y="449580"/>
            <a:ext cx="1651871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Metodología Scrum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24128" y="1217295"/>
            <a:ext cx="164660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Scrum adaptado al contexto académico, trabajo incremental durante 18 semanas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029980" y="5808199"/>
            <a:ext cx="314148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0 – Semanas 1-4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030314" y="6242158"/>
            <a:ext cx="3141485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Levantamiento de requerimientos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Backlog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BBDD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Prototipos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133018" y="5895099"/>
            <a:ext cx="410515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Sprints 1-5 – Semanas 5-15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6817560" y="6329058"/>
            <a:ext cx="463383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1: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Gestión de clientes y direcciones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2: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Productos, inventario, usuarios y movimientos.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</a:t>
            </a: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rint 3: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Cotizaciones y órdenes de compra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</a:t>
            </a: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rint 4: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Facturación + P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DF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</a:t>
            </a: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rint 5: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IA + pruebas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174611" y="5831281"/>
            <a:ext cx="314148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Semanas 16-18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174945" y="6412306"/>
            <a:ext cx="3141485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Presentación y cierre: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Vali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dación final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doc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umentación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resentación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380205" y="8730045"/>
            <a:ext cx="198431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Owner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421280" y="9239815"/>
            <a:ext cx="15074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Araceli Vega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568690" y="8730045"/>
            <a:ext cx="198431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Scrum Master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609765" y="9239815"/>
            <a:ext cx="15074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Kryshsna Cerda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725874" y="8749095"/>
            <a:ext cx="215716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 - Líder Técnico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0800362" y="9239815"/>
            <a:ext cx="15074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Ethan Silvestre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4954391" y="8765634"/>
            <a:ext cx="215716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 - Backend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4952084" y="9256355"/>
            <a:ext cx="189715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Benjamín Mateluna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9380" y="647700"/>
            <a:ext cx="1680924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Tecnologías y recursos previstos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76074" y="1823091"/>
            <a:ext cx="4634110" cy="914540"/>
            <a:chOff x="0" y="0"/>
            <a:chExt cx="1095219" cy="2161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5219" cy="216141"/>
            </a:xfrm>
            <a:custGeom>
              <a:avLst/>
              <a:gdLst/>
              <a:ahLst/>
              <a:cxnLst/>
              <a:rect r="r" b="b" t="t" l="l"/>
              <a:pathLst>
                <a:path h="216141" w="1095219">
                  <a:moveTo>
                    <a:pt x="0" y="0"/>
                  </a:moveTo>
                  <a:lnTo>
                    <a:pt x="1095219" y="0"/>
                  </a:lnTo>
                  <a:lnTo>
                    <a:pt x="1095219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5219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23841" y="1823091"/>
            <a:ext cx="4634110" cy="914540"/>
            <a:chOff x="0" y="0"/>
            <a:chExt cx="1095219" cy="2161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5219" cy="216141"/>
            </a:xfrm>
            <a:custGeom>
              <a:avLst/>
              <a:gdLst/>
              <a:ahLst/>
              <a:cxnLst/>
              <a:rect r="r" b="b" t="t" l="l"/>
              <a:pathLst>
                <a:path h="216141" w="1095219">
                  <a:moveTo>
                    <a:pt x="0" y="0"/>
                  </a:moveTo>
                  <a:lnTo>
                    <a:pt x="1095219" y="0"/>
                  </a:lnTo>
                  <a:lnTo>
                    <a:pt x="1095219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5219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74712" y="1823091"/>
            <a:ext cx="4634110" cy="914540"/>
            <a:chOff x="0" y="0"/>
            <a:chExt cx="1095219" cy="2161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219" cy="216141"/>
            </a:xfrm>
            <a:custGeom>
              <a:avLst/>
              <a:gdLst/>
              <a:ahLst/>
              <a:cxnLst/>
              <a:rect r="r" b="b" t="t" l="l"/>
              <a:pathLst>
                <a:path h="216141" w="1095219">
                  <a:moveTo>
                    <a:pt x="0" y="0"/>
                  </a:moveTo>
                  <a:lnTo>
                    <a:pt x="1095219" y="0"/>
                  </a:lnTo>
                  <a:lnTo>
                    <a:pt x="1095219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5219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76074" y="2833163"/>
            <a:ext cx="4631006" cy="914540"/>
            <a:chOff x="0" y="0"/>
            <a:chExt cx="1094485" cy="2161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23841" y="2833163"/>
            <a:ext cx="4631006" cy="914540"/>
            <a:chOff x="0" y="0"/>
            <a:chExt cx="1094485" cy="2161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77816" y="2833163"/>
            <a:ext cx="4631006" cy="914540"/>
            <a:chOff x="0" y="0"/>
            <a:chExt cx="1094485" cy="2161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79178" y="3864463"/>
            <a:ext cx="4631006" cy="914540"/>
            <a:chOff x="0" y="0"/>
            <a:chExt cx="1094485" cy="2161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23841" y="3864463"/>
            <a:ext cx="4631006" cy="914540"/>
            <a:chOff x="0" y="0"/>
            <a:chExt cx="1094485" cy="2161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71608" y="3864463"/>
            <a:ext cx="4631006" cy="914540"/>
            <a:chOff x="0" y="0"/>
            <a:chExt cx="1094485" cy="2161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079178" y="4895763"/>
            <a:ext cx="4631006" cy="914540"/>
            <a:chOff x="0" y="0"/>
            <a:chExt cx="1094485" cy="2161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26945" y="4895763"/>
            <a:ext cx="4631006" cy="914540"/>
            <a:chOff x="0" y="0"/>
            <a:chExt cx="1094485" cy="2161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80920" y="4895763"/>
            <a:ext cx="4631006" cy="914540"/>
            <a:chOff x="0" y="0"/>
            <a:chExt cx="1094485" cy="21614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082282" y="5927064"/>
            <a:ext cx="4631006" cy="914540"/>
            <a:chOff x="0" y="0"/>
            <a:chExt cx="1094485" cy="21614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26945" y="5927064"/>
            <a:ext cx="4631006" cy="914540"/>
            <a:chOff x="0" y="0"/>
            <a:chExt cx="1094485" cy="21614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574712" y="5927064"/>
            <a:ext cx="4631006" cy="914540"/>
            <a:chOff x="0" y="0"/>
            <a:chExt cx="1094485" cy="21614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76074" y="6958364"/>
            <a:ext cx="4631006" cy="914540"/>
            <a:chOff x="0" y="0"/>
            <a:chExt cx="1094485" cy="21614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23841" y="6958364"/>
            <a:ext cx="4631006" cy="914540"/>
            <a:chOff x="0" y="0"/>
            <a:chExt cx="1094485" cy="21614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577816" y="6958364"/>
            <a:ext cx="4631006" cy="914540"/>
            <a:chOff x="0" y="0"/>
            <a:chExt cx="1094485" cy="21614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2647357" y="2032148"/>
            <a:ext cx="3500856" cy="4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50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Tecnología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822270" y="935503"/>
            <a:ext cx="1921377" cy="1373784"/>
          </a:xfrm>
          <a:custGeom>
            <a:avLst/>
            <a:gdLst/>
            <a:ahLst/>
            <a:cxnLst/>
            <a:rect r="r" b="b" t="t" l="l"/>
            <a:pathLst>
              <a:path h="1373784" w="1921377">
                <a:moveTo>
                  <a:pt x="0" y="0"/>
                </a:moveTo>
                <a:lnTo>
                  <a:pt x="1921376" y="0"/>
                </a:lnTo>
                <a:lnTo>
                  <a:pt x="1921376" y="1373785"/>
                </a:lnTo>
                <a:lnTo>
                  <a:pt x="0" y="13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6282806" y="1078095"/>
            <a:ext cx="1265814" cy="1088600"/>
          </a:xfrm>
          <a:custGeom>
            <a:avLst/>
            <a:gdLst/>
            <a:ahLst/>
            <a:cxnLst/>
            <a:rect r="r" b="b" t="t" l="l"/>
            <a:pathLst>
              <a:path h="1088600" w="1265814">
                <a:moveTo>
                  <a:pt x="0" y="0"/>
                </a:moveTo>
                <a:lnTo>
                  <a:pt x="1265814" y="0"/>
                </a:lnTo>
                <a:lnTo>
                  <a:pt x="1265814" y="1088601"/>
                </a:lnTo>
                <a:lnTo>
                  <a:pt x="0" y="10886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388916" y="2032148"/>
            <a:ext cx="3500856" cy="4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50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36683" y="2032148"/>
            <a:ext cx="3500856" cy="4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50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¿Por qué?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170620" y="3067666"/>
            <a:ext cx="2454329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React + Tailwind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912179" y="3057052"/>
            <a:ext cx="2454329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26794" y="3057052"/>
            <a:ext cx="433925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Interfaces dinámicas y modulares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647357" y="4088352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Django REST Framework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491413" y="4088352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BACKEND/API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761983" y="3933235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Conecta Front, BD e IA mediante API estructurada.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43646" y="5124118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491413" y="5124118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BBDD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761983" y="4933897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Manejo robusto de datos relacionales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647357" y="6155419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+ Scikit-Learn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268856" y="6155419"/>
            <a:ext cx="375028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IA/MODELOS PREDICTIVOS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761983" y="5996200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Ecosistema adecuado para análisis de datos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647357" y="7186719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268856" y="7186719"/>
            <a:ext cx="375028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PROTOTIPADO / DISEÑO UI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717482" y="7022578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Prototipa y valida interfaces pre-implementación.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24128" y="1341120"/>
            <a:ext cx="164660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La selección tecnológica puede ajustarse durante el desarrollo si existe una justificación técnica.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2076074" y="7987204"/>
            <a:ext cx="4631006" cy="914540"/>
            <a:chOff x="0" y="0"/>
            <a:chExt cx="1094485" cy="21614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820737" y="7987204"/>
            <a:ext cx="4631006" cy="914540"/>
            <a:chOff x="0" y="0"/>
            <a:chExt cx="1094485" cy="21614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568504" y="7987204"/>
            <a:ext cx="4631006" cy="914540"/>
            <a:chOff x="0" y="0"/>
            <a:chExt cx="1094485" cy="21614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2069866" y="9018504"/>
            <a:ext cx="4631006" cy="914540"/>
            <a:chOff x="0" y="0"/>
            <a:chExt cx="1094485" cy="21614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817633" y="9018504"/>
            <a:ext cx="4631006" cy="914540"/>
            <a:chOff x="0" y="0"/>
            <a:chExt cx="1094485" cy="21614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571608" y="9018504"/>
            <a:ext cx="4631006" cy="914540"/>
            <a:chOff x="0" y="0"/>
            <a:chExt cx="1094485" cy="21614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2641149" y="8215559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262648" y="8065865"/>
            <a:ext cx="375028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GESTIÓN DEL PROYECTO / SCRUM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755775" y="8056340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 tareas, Sprints y Product Backlog.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641149" y="9246859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Git + GitHub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7262648" y="9246859"/>
            <a:ext cx="375028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DE VERSIONES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711273" y="9246859"/>
            <a:ext cx="433925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Trabajo colaborativo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0530"/>
            <a:ext cx="161620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Factibilidad y riesgos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128" y="1226820"/>
            <a:ext cx="155905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FODA resumido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915366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Factibilidad: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18 semanas y 90 horas, con alcance delimitado y datasets simulados si es necesario.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754804" y="2036310"/>
            <a:ext cx="6229176" cy="3360420"/>
            <a:chOff x="0" y="0"/>
            <a:chExt cx="1640606" cy="8850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54804" y="2036310"/>
            <a:ext cx="96012" cy="3356880"/>
            <a:chOff x="0" y="0"/>
            <a:chExt cx="128016" cy="44758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83980" y="2036310"/>
            <a:ext cx="6229176" cy="3360420"/>
            <a:chOff x="0" y="0"/>
            <a:chExt cx="1640606" cy="8850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108468" y="2036310"/>
            <a:ext cx="96012" cy="3356880"/>
            <a:chOff x="0" y="0"/>
            <a:chExt cx="128016" cy="4475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43846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54804" y="5393190"/>
            <a:ext cx="6229176" cy="3360420"/>
            <a:chOff x="0" y="0"/>
            <a:chExt cx="1640606" cy="8850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54804" y="5393190"/>
            <a:ext cx="96012" cy="3356880"/>
            <a:chOff x="0" y="0"/>
            <a:chExt cx="128016" cy="44758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83980" y="5393190"/>
            <a:ext cx="6229176" cy="3360420"/>
            <a:chOff x="0" y="0"/>
            <a:chExt cx="1640606" cy="8850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108468" y="5393190"/>
            <a:ext cx="96012" cy="3356880"/>
            <a:chOff x="0" y="0"/>
            <a:chExt cx="128016" cy="44758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A04B4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695601" y="4106233"/>
            <a:ext cx="1288379" cy="1286957"/>
            <a:chOff x="0" y="0"/>
            <a:chExt cx="291687" cy="2913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1687" cy="291365"/>
            </a:xfrm>
            <a:custGeom>
              <a:avLst/>
              <a:gdLst/>
              <a:ahLst/>
              <a:cxnLst/>
              <a:rect r="r" b="b" t="t" l="l"/>
              <a:pathLst>
                <a:path h="291365" w="291687">
                  <a:moveTo>
                    <a:pt x="0" y="0"/>
                  </a:moveTo>
                  <a:lnTo>
                    <a:pt x="291687" y="0"/>
                  </a:lnTo>
                  <a:lnTo>
                    <a:pt x="291687" y="291365"/>
                  </a:lnTo>
                  <a:lnTo>
                    <a:pt x="0" y="291365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91687" cy="32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83980" y="4106233"/>
            <a:ext cx="1288379" cy="1286957"/>
            <a:chOff x="0" y="0"/>
            <a:chExt cx="291687" cy="2913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1687" cy="291365"/>
            </a:xfrm>
            <a:custGeom>
              <a:avLst/>
              <a:gdLst/>
              <a:ahLst/>
              <a:cxnLst/>
              <a:rect r="r" b="b" t="t" l="l"/>
              <a:pathLst>
                <a:path h="291365" w="291687">
                  <a:moveTo>
                    <a:pt x="0" y="0"/>
                  </a:moveTo>
                  <a:lnTo>
                    <a:pt x="291687" y="0"/>
                  </a:lnTo>
                  <a:lnTo>
                    <a:pt x="291687" y="291365"/>
                  </a:lnTo>
                  <a:lnTo>
                    <a:pt x="0" y="291365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91687" cy="32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95601" y="5393190"/>
            <a:ext cx="1288379" cy="1286957"/>
            <a:chOff x="0" y="0"/>
            <a:chExt cx="291687" cy="2913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1687" cy="291365"/>
            </a:xfrm>
            <a:custGeom>
              <a:avLst/>
              <a:gdLst/>
              <a:ahLst/>
              <a:cxnLst/>
              <a:rect r="r" b="b" t="t" l="l"/>
              <a:pathLst>
                <a:path h="291365" w="291687">
                  <a:moveTo>
                    <a:pt x="0" y="0"/>
                  </a:moveTo>
                  <a:lnTo>
                    <a:pt x="291687" y="0"/>
                  </a:lnTo>
                  <a:lnTo>
                    <a:pt x="291687" y="291365"/>
                  </a:lnTo>
                  <a:lnTo>
                    <a:pt x="0" y="291365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91687" cy="32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83980" y="5393190"/>
            <a:ext cx="1288379" cy="1286957"/>
            <a:chOff x="0" y="0"/>
            <a:chExt cx="291687" cy="2913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1687" cy="291365"/>
            </a:xfrm>
            <a:custGeom>
              <a:avLst/>
              <a:gdLst/>
              <a:ahLst/>
              <a:cxnLst/>
              <a:rect r="r" b="b" t="t" l="l"/>
              <a:pathLst>
                <a:path h="291365" w="291687">
                  <a:moveTo>
                    <a:pt x="0" y="0"/>
                  </a:moveTo>
                  <a:lnTo>
                    <a:pt x="291687" y="0"/>
                  </a:lnTo>
                  <a:lnTo>
                    <a:pt x="291687" y="291365"/>
                  </a:lnTo>
                  <a:lnTo>
                    <a:pt x="0" y="291365"/>
                  </a:lnTo>
                  <a:close/>
                </a:path>
              </a:pathLst>
            </a:custGeom>
            <a:solidFill>
              <a:srgbClr val="A04B4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91687" cy="32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015239" y="4368711"/>
            <a:ext cx="64910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03618" y="4368711"/>
            <a:ext cx="64910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15239" y="5655668"/>
            <a:ext cx="64910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03618" y="5655668"/>
            <a:ext cx="64910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165700" y="2906895"/>
            <a:ext cx="5503395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Comunicación directa con Ecoterra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Alcance delimitado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Requerimientos validados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Equipo con competencias complementarias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15993" y="2310126"/>
            <a:ext cx="550339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91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Fortalezas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46870" y="2906895"/>
            <a:ext cx="5503395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Aplicación de tecnologías actuales</a:t>
            </a:r>
          </a:p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Contexto empresarial real</a:t>
            </a:r>
          </a:p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Experiencia en desarrollo de solución integral</a:t>
            </a:r>
          </a:p>
          <a:p>
            <a:pPr algn="r">
              <a:lnSpc>
                <a:spcPts val="3071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9346870" y="2310126"/>
            <a:ext cx="550339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3"/>
              </a:lnSpc>
            </a:pPr>
            <a:r>
              <a:rPr lang="en-US" sz="291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Oportunidades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65700" y="6698865"/>
            <a:ext cx="4627425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Tiempo académico limitado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Experiencia desigual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Pocos datos históricos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315993" y="5829312"/>
            <a:ext cx="550339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91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⚠ Debilidades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360087" y="6627218"/>
            <a:ext cx="5399561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Cambios de requerimientos</a:t>
            </a:r>
          </a:p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Disponibilidad del cliente</a:t>
            </a:r>
          </a:p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Retrasos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46870" y="5834880"/>
            <a:ext cx="541277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3"/>
              </a:lnSpc>
            </a:pPr>
            <a:r>
              <a:rPr lang="en-US" sz="291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⚠ Amenazas</a:t>
            </a:r>
          </a:p>
        </p:txBody>
      </p:sp>
      <p:grpSp>
        <p:nvGrpSpPr>
          <p:cNvPr name="Group 50" id="50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910601" y="1974030"/>
            <a:ext cx="2388451" cy="555135"/>
            <a:chOff x="0" y="0"/>
            <a:chExt cx="629057" cy="1462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9057" cy="146208"/>
            </a:xfrm>
            <a:custGeom>
              <a:avLst/>
              <a:gdLst/>
              <a:ahLst/>
              <a:cxnLst/>
              <a:rect r="r" b="b" t="t" l="l"/>
              <a:pathLst>
                <a:path h="146208" w="629057">
                  <a:moveTo>
                    <a:pt x="0" y="0"/>
                  </a:moveTo>
                  <a:lnTo>
                    <a:pt x="629057" y="0"/>
                  </a:lnTo>
                  <a:lnTo>
                    <a:pt x="629057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438468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29057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52945" y="1974030"/>
            <a:ext cx="8757656" cy="555135"/>
            <a:chOff x="0" y="0"/>
            <a:chExt cx="2306543" cy="1462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6543" cy="146208"/>
            </a:xfrm>
            <a:custGeom>
              <a:avLst/>
              <a:gdLst/>
              <a:ahLst/>
              <a:cxnLst/>
              <a:rect r="r" b="b" t="t" l="l"/>
              <a:pathLst>
                <a:path h="146208" w="2306543">
                  <a:moveTo>
                    <a:pt x="0" y="0"/>
                  </a:moveTo>
                  <a:lnTo>
                    <a:pt x="2306543" y="0"/>
                  </a:lnTo>
                  <a:lnTo>
                    <a:pt x="2306543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3F91AB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06543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71595" y="1970996"/>
            <a:ext cx="3181350" cy="555135"/>
            <a:chOff x="0" y="0"/>
            <a:chExt cx="837886" cy="1462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7886" cy="146208"/>
            </a:xfrm>
            <a:custGeom>
              <a:avLst/>
              <a:gdLst/>
              <a:ahLst/>
              <a:cxnLst/>
              <a:rect r="r" b="b" t="t" l="l"/>
              <a:pathLst>
                <a:path h="146208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2A5D96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37886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910592" y="2518551"/>
            <a:ext cx="2388460" cy="555135"/>
            <a:chOff x="0" y="0"/>
            <a:chExt cx="629060" cy="1462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9060" cy="146208"/>
            </a:xfrm>
            <a:custGeom>
              <a:avLst/>
              <a:gdLst/>
              <a:ahLst/>
              <a:cxnLst/>
              <a:rect r="r" b="b" t="t" l="l"/>
              <a:pathLst>
                <a:path h="146208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29060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47230" y="2523098"/>
            <a:ext cx="8763362" cy="555135"/>
            <a:chOff x="0" y="0"/>
            <a:chExt cx="2308046" cy="1462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08046" cy="146208"/>
            </a:xfrm>
            <a:custGeom>
              <a:avLst/>
              <a:gdLst/>
              <a:ahLst/>
              <a:cxnLst/>
              <a:rect r="r" b="b" t="t" l="l"/>
              <a:pathLst>
                <a:path h="146208" w="2308046">
                  <a:moveTo>
                    <a:pt x="0" y="0"/>
                  </a:moveTo>
                  <a:lnTo>
                    <a:pt x="2308046" y="0"/>
                  </a:lnTo>
                  <a:lnTo>
                    <a:pt x="2308046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08046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71595" y="2523098"/>
            <a:ext cx="3181350" cy="555135"/>
            <a:chOff x="0" y="0"/>
            <a:chExt cx="837886" cy="1462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7886" cy="146208"/>
            </a:xfrm>
            <a:custGeom>
              <a:avLst/>
              <a:gdLst/>
              <a:ahLst/>
              <a:cxnLst/>
              <a:rect r="r" b="b" t="t" l="l"/>
              <a:pathLst>
                <a:path h="146208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37886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910592" y="8083015"/>
            <a:ext cx="2388460" cy="1012233"/>
            <a:chOff x="0" y="0"/>
            <a:chExt cx="629060" cy="2665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910592" y="7085555"/>
            <a:ext cx="2388460" cy="1012233"/>
            <a:chOff x="0" y="0"/>
            <a:chExt cx="629060" cy="2665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910592" y="6080209"/>
            <a:ext cx="2388460" cy="1012233"/>
            <a:chOff x="0" y="0"/>
            <a:chExt cx="629060" cy="2665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910592" y="5069043"/>
            <a:ext cx="2388460" cy="1012233"/>
            <a:chOff x="0" y="0"/>
            <a:chExt cx="629060" cy="2665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910592" y="4070081"/>
            <a:ext cx="2388460" cy="1012233"/>
            <a:chOff x="0" y="0"/>
            <a:chExt cx="629060" cy="2665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910592" y="3057848"/>
            <a:ext cx="2388460" cy="1012233"/>
            <a:chOff x="0" y="0"/>
            <a:chExt cx="629060" cy="2665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152945" y="8077221"/>
            <a:ext cx="8757647" cy="1012233"/>
            <a:chOff x="0" y="0"/>
            <a:chExt cx="2306541" cy="2665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152945" y="7079761"/>
            <a:ext cx="8757647" cy="1012233"/>
            <a:chOff x="0" y="0"/>
            <a:chExt cx="2306541" cy="2665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152945" y="6074415"/>
            <a:ext cx="8757647" cy="1012233"/>
            <a:chOff x="0" y="0"/>
            <a:chExt cx="2306541" cy="2665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152945" y="5063249"/>
            <a:ext cx="8757647" cy="1012233"/>
            <a:chOff x="0" y="0"/>
            <a:chExt cx="2306541" cy="2665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152945" y="4064287"/>
            <a:ext cx="8757647" cy="1012233"/>
            <a:chOff x="0" y="0"/>
            <a:chExt cx="2306541" cy="2665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152945" y="3052054"/>
            <a:ext cx="8757647" cy="1012233"/>
            <a:chOff x="0" y="0"/>
            <a:chExt cx="2306541" cy="2665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971595" y="8077221"/>
            <a:ext cx="3181350" cy="1012233"/>
            <a:chOff x="0" y="0"/>
            <a:chExt cx="837886" cy="2665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971595" y="7079761"/>
            <a:ext cx="3181350" cy="1012233"/>
            <a:chOff x="0" y="0"/>
            <a:chExt cx="837886" cy="2665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971595" y="6074415"/>
            <a:ext cx="3181350" cy="1012233"/>
            <a:chOff x="0" y="0"/>
            <a:chExt cx="837886" cy="2665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971595" y="5063249"/>
            <a:ext cx="3181350" cy="1012233"/>
            <a:chOff x="0" y="0"/>
            <a:chExt cx="837886" cy="2665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971595" y="4064287"/>
            <a:ext cx="3181350" cy="1012233"/>
            <a:chOff x="0" y="0"/>
            <a:chExt cx="837886" cy="2665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971595" y="3052054"/>
            <a:ext cx="3181350" cy="1012233"/>
            <a:chOff x="0" y="0"/>
            <a:chExt cx="837886" cy="2665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16079" y="8078288"/>
            <a:ext cx="2155516" cy="1012233"/>
            <a:chOff x="0" y="0"/>
            <a:chExt cx="567708" cy="2665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16079" y="8078288"/>
            <a:ext cx="47625" cy="1011166"/>
            <a:chOff x="0" y="0"/>
            <a:chExt cx="63500" cy="134822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A04B4B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16079" y="7080828"/>
            <a:ext cx="2155516" cy="1012233"/>
            <a:chOff x="0" y="0"/>
            <a:chExt cx="567708" cy="2665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16079" y="7080828"/>
            <a:ext cx="47625" cy="1011166"/>
            <a:chOff x="0" y="0"/>
            <a:chExt cx="63500" cy="134822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7366A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16079" y="6075482"/>
            <a:ext cx="2155516" cy="1012233"/>
            <a:chOff x="0" y="0"/>
            <a:chExt cx="567708" cy="2665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16079" y="6075482"/>
            <a:ext cx="47625" cy="1011166"/>
            <a:chOff x="0" y="0"/>
            <a:chExt cx="63500" cy="134822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3F91A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816079" y="5064315"/>
            <a:ext cx="2155516" cy="1012233"/>
            <a:chOff x="0" y="0"/>
            <a:chExt cx="567708" cy="2665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16079" y="5064315"/>
            <a:ext cx="47625" cy="1011166"/>
            <a:chOff x="0" y="0"/>
            <a:chExt cx="63500" cy="134822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438468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816079" y="4065353"/>
            <a:ext cx="2155516" cy="1012233"/>
            <a:chOff x="0" y="0"/>
            <a:chExt cx="567708" cy="26659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16079" y="4065353"/>
            <a:ext cx="47625" cy="1011166"/>
            <a:chOff x="0" y="0"/>
            <a:chExt cx="63500" cy="134822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16079" y="3053120"/>
            <a:ext cx="2155516" cy="1012233"/>
            <a:chOff x="0" y="0"/>
            <a:chExt cx="567708" cy="26659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16079" y="3053120"/>
            <a:ext cx="47625" cy="1011166"/>
            <a:chOff x="0" y="0"/>
            <a:chExt cx="63500" cy="134822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2968347" y="3330947"/>
            <a:ext cx="3184598" cy="461642"/>
            <a:chOff x="0" y="0"/>
            <a:chExt cx="838742" cy="12158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38742" cy="121585"/>
            </a:xfrm>
            <a:custGeom>
              <a:avLst/>
              <a:gdLst/>
              <a:ahLst/>
              <a:cxnLst/>
              <a:rect r="r" b="b" t="t" l="l"/>
              <a:pathLst>
                <a:path h="121585" w="838742">
                  <a:moveTo>
                    <a:pt x="0" y="0"/>
                  </a:moveTo>
                  <a:lnTo>
                    <a:pt x="838742" y="0"/>
                  </a:lnTo>
                  <a:lnTo>
                    <a:pt x="838742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838742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668426" y="516255"/>
            <a:ext cx="1677827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9"/>
              </a:lnSpc>
            </a:pPr>
            <a:r>
              <a:rPr lang="en-US" sz="434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Planificación del Proyecto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98517" y="1327785"/>
            <a:ext cx="164225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Carta Gantt resumida según los hitos declarados anteriormente.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059787" y="2091463"/>
            <a:ext cx="300171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1 · Planificación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9661421" y="2091463"/>
            <a:ext cx="174069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2 · Desarrollo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5441574" y="2080147"/>
            <a:ext cx="132650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3 · Cierre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3059787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855934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4652090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5448238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244385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7040541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7836689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8632836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9428983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0225139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1021287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1817434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2613590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3409737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4205885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5002041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5798188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6594335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022528" y="3300913"/>
            <a:ext cx="17616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 · Análisis y diseño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032053" y="4271397"/>
            <a:ext cx="186721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H2 · Gestión operativa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022528" y="5287136"/>
            <a:ext cx="17616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H3 · Cotizaciones y facturación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022528" y="6307235"/>
            <a:ext cx="167612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H4 · IA e integración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997129" y="7421089"/>
            <a:ext cx="15487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Pruebas finales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022528" y="8302610"/>
            <a:ext cx="17616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Informe y presentación</a:t>
            </a:r>
          </a:p>
        </p:txBody>
      </p:sp>
      <p:grpSp>
        <p:nvGrpSpPr>
          <p:cNvPr name="Group 139" id="139"/>
          <p:cNvGrpSpPr/>
          <p:nvPr/>
        </p:nvGrpSpPr>
        <p:grpSpPr>
          <a:xfrm rot="0">
            <a:off x="6152945" y="4350173"/>
            <a:ext cx="4776902" cy="461642"/>
            <a:chOff x="0" y="0"/>
            <a:chExt cx="1258114" cy="121585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258114" cy="121585"/>
            </a:xfrm>
            <a:custGeom>
              <a:avLst/>
              <a:gdLst/>
              <a:ahLst/>
              <a:cxnLst/>
              <a:rect r="r" b="b" t="t" l="l"/>
              <a:pathLst>
                <a:path h="121585" w="1258114">
                  <a:moveTo>
                    <a:pt x="0" y="0"/>
                  </a:moveTo>
                  <a:lnTo>
                    <a:pt x="1258114" y="0"/>
                  </a:lnTo>
                  <a:lnTo>
                    <a:pt x="1258114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1258114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0929847" y="5314641"/>
            <a:ext cx="2388451" cy="461642"/>
            <a:chOff x="0" y="0"/>
            <a:chExt cx="629057" cy="121585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629057" cy="121585"/>
            </a:xfrm>
            <a:custGeom>
              <a:avLst/>
              <a:gdLst/>
              <a:ahLst/>
              <a:cxnLst/>
              <a:rect r="r" b="b" t="t" l="l"/>
              <a:pathLst>
                <a:path h="121585" w="629057">
                  <a:moveTo>
                    <a:pt x="0" y="0"/>
                  </a:moveTo>
                  <a:lnTo>
                    <a:pt x="629057" y="0"/>
                  </a:lnTo>
                  <a:lnTo>
                    <a:pt x="629057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629057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0929847" y="6345335"/>
            <a:ext cx="3980745" cy="461642"/>
            <a:chOff x="0" y="0"/>
            <a:chExt cx="1048427" cy="121585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048427" cy="121585"/>
            </a:xfrm>
            <a:custGeom>
              <a:avLst/>
              <a:gdLst/>
              <a:ahLst/>
              <a:cxnLst/>
              <a:rect r="r" b="b" t="t" l="l"/>
              <a:pathLst>
                <a:path h="121585" w="1048427">
                  <a:moveTo>
                    <a:pt x="0" y="0"/>
                  </a:moveTo>
                  <a:lnTo>
                    <a:pt x="1048427" y="0"/>
                  </a:lnTo>
                  <a:lnTo>
                    <a:pt x="1048427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1048427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4114445" y="7375996"/>
            <a:ext cx="796147" cy="461642"/>
            <a:chOff x="0" y="0"/>
            <a:chExt cx="209685" cy="121585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09685" cy="121585"/>
            </a:xfrm>
            <a:custGeom>
              <a:avLst/>
              <a:gdLst/>
              <a:ahLst/>
              <a:cxnLst/>
              <a:rect r="r" b="b" t="t" l="l"/>
              <a:pathLst>
                <a:path h="121585" w="209685">
                  <a:moveTo>
                    <a:pt x="0" y="0"/>
                  </a:moveTo>
                  <a:lnTo>
                    <a:pt x="209685" y="0"/>
                  </a:lnTo>
                  <a:lnTo>
                    <a:pt x="209685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7366AF"/>
            </a:solid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209685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4910592" y="8350518"/>
            <a:ext cx="2388460" cy="461642"/>
            <a:chOff x="0" y="0"/>
            <a:chExt cx="629060" cy="121585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629060" cy="121585"/>
            </a:xfrm>
            <a:custGeom>
              <a:avLst/>
              <a:gdLst/>
              <a:ahLst/>
              <a:cxnLst/>
              <a:rect r="r" b="b" t="t" l="l"/>
              <a:pathLst>
                <a:path h="121585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A04B4B"/>
            </a:solid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629060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37028" y="0"/>
            <a:ext cx="9786046" cy="10269386"/>
          </a:xfrm>
          <a:custGeom>
            <a:avLst/>
            <a:gdLst/>
            <a:ahLst/>
            <a:cxnLst/>
            <a:rect r="r" b="b" t="t" l="l"/>
            <a:pathLst>
              <a:path h="10269386" w="9786046">
                <a:moveTo>
                  <a:pt x="0" y="0"/>
                </a:moveTo>
                <a:lnTo>
                  <a:pt x="9786046" y="0"/>
                </a:lnTo>
                <a:lnTo>
                  <a:pt x="9786046" y="10269386"/>
                </a:lnTo>
                <a:lnTo>
                  <a:pt x="0" y="10269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695" t="0" r="-4369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1799216"/>
            <a:ext cx="6574675" cy="1671049"/>
            <a:chOff x="0" y="0"/>
            <a:chExt cx="1339115" cy="3403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9115" cy="340355"/>
            </a:xfrm>
            <a:custGeom>
              <a:avLst/>
              <a:gdLst/>
              <a:ahLst/>
              <a:cxnLst/>
              <a:rect r="r" b="b" t="t" l="l"/>
              <a:pathLst>
                <a:path h="340355" w="1339115">
                  <a:moveTo>
                    <a:pt x="0" y="0"/>
                  </a:moveTo>
                  <a:lnTo>
                    <a:pt x="1339115" y="0"/>
                  </a:lnTo>
                  <a:lnTo>
                    <a:pt x="1339115" y="340355"/>
                  </a:lnTo>
                  <a:lnTo>
                    <a:pt x="0" y="34035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39115" cy="378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799216"/>
            <a:ext cx="91109" cy="1669288"/>
            <a:chOff x="0" y="0"/>
            <a:chExt cx="93944" cy="1721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944" cy="1721234"/>
            </a:xfrm>
            <a:custGeom>
              <a:avLst/>
              <a:gdLst/>
              <a:ahLst/>
              <a:cxnLst/>
              <a:rect r="r" b="b" t="t" l="l"/>
              <a:pathLst>
                <a:path h="1721234" w="93944">
                  <a:moveTo>
                    <a:pt x="0" y="0"/>
                  </a:moveTo>
                  <a:lnTo>
                    <a:pt x="93944" y="0"/>
                  </a:lnTo>
                  <a:lnTo>
                    <a:pt x="93944" y="1721234"/>
                  </a:lnTo>
                  <a:lnTo>
                    <a:pt x="0" y="1721234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3632189"/>
            <a:ext cx="6574675" cy="1671049"/>
            <a:chOff x="0" y="0"/>
            <a:chExt cx="1339115" cy="3403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9115" cy="340355"/>
            </a:xfrm>
            <a:custGeom>
              <a:avLst/>
              <a:gdLst/>
              <a:ahLst/>
              <a:cxnLst/>
              <a:rect r="r" b="b" t="t" l="l"/>
              <a:pathLst>
                <a:path h="340355" w="1339115">
                  <a:moveTo>
                    <a:pt x="0" y="0"/>
                  </a:moveTo>
                  <a:lnTo>
                    <a:pt x="1339115" y="0"/>
                  </a:lnTo>
                  <a:lnTo>
                    <a:pt x="1339115" y="340355"/>
                  </a:lnTo>
                  <a:lnTo>
                    <a:pt x="0" y="34035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9115" cy="378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3632189"/>
            <a:ext cx="91109" cy="1669288"/>
            <a:chOff x="0" y="0"/>
            <a:chExt cx="93944" cy="17212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944" cy="1721234"/>
            </a:xfrm>
            <a:custGeom>
              <a:avLst/>
              <a:gdLst/>
              <a:ahLst/>
              <a:cxnLst/>
              <a:rect r="r" b="b" t="t" l="l"/>
              <a:pathLst>
                <a:path h="1721234" w="93944">
                  <a:moveTo>
                    <a:pt x="0" y="0"/>
                  </a:moveTo>
                  <a:lnTo>
                    <a:pt x="93944" y="0"/>
                  </a:lnTo>
                  <a:lnTo>
                    <a:pt x="93944" y="1721234"/>
                  </a:lnTo>
                  <a:lnTo>
                    <a:pt x="0" y="1721234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5446113"/>
            <a:ext cx="6574675" cy="1671049"/>
            <a:chOff x="0" y="0"/>
            <a:chExt cx="1339115" cy="3403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9115" cy="340355"/>
            </a:xfrm>
            <a:custGeom>
              <a:avLst/>
              <a:gdLst/>
              <a:ahLst/>
              <a:cxnLst/>
              <a:rect r="r" b="b" t="t" l="l"/>
              <a:pathLst>
                <a:path h="340355" w="1339115">
                  <a:moveTo>
                    <a:pt x="0" y="0"/>
                  </a:moveTo>
                  <a:lnTo>
                    <a:pt x="1339115" y="0"/>
                  </a:lnTo>
                  <a:lnTo>
                    <a:pt x="1339115" y="340355"/>
                  </a:lnTo>
                  <a:lnTo>
                    <a:pt x="0" y="34035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39115" cy="378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5446113"/>
            <a:ext cx="91109" cy="1669288"/>
            <a:chOff x="0" y="0"/>
            <a:chExt cx="93944" cy="17212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944" cy="1721234"/>
            </a:xfrm>
            <a:custGeom>
              <a:avLst/>
              <a:gdLst/>
              <a:ahLst/>
              <a:cxnLst/>
              <a:rect r="r" b="b" t="t" l="l"/>
              <a:pathLst>
                <a:path h="1721234" w="93944">
                  <a:moveTo>
                    <a:pt x="0" y="0"/>
                  </a:moveTo>
                  <a:lnTo>
                    <a:pt x="93944" y="0"/>
                  </a:lnTo>
                  <a:lnTo>
                    <a:pt x="93944" y="1721234"/>
                  </a:lnTo>
                  <a:lnTo>
                    <a:pt x="0" y="1721234"/>
                  </a:lnTo>
                  <a:close/>
                </a:path>
              </a:pathLst>
            </a:custGeom>
            <a:solidFill>
              <a:srgbClr val="43846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0" y="7279086"/>
            <a:ext cx="6574675" cy="1671049"/>
            <a:chOff x="0" y="0"/>
            <a:chExt cx="1339115" cy="3403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9115" cy="340355"/>
            </a:xfrm>
            <a:custGeom>
              <a:avLst/>
              <a:gdLst/>
              <a:ahLst/>
              <a:cxnLst/>
              <a:rect r="r" b="b" t="t" l="l"/>
              <a:pathLst>
                <a:path h="340355" w="1339115">
                  <a:moveTo>
                    <a:pt x="0" y="0"/>
                  </a:moveTo>
                  <a:lnTo>
                    <a:pt x="1339115" y="0"/>
                  </a:lnTo>
                  <a:lnTo>
                    <a:pt x="1339115" y="340355"/>
                  </a:lnTo>
                  <a:lnTo>
                    <a:pt x="0" y="34035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39115" cy="378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0" y="7279086"/>
            <a:ext cx="91109" cy="1669288"/>
            <a:chOff x="0" y="0"/>
            <a:chExt cx="93944" cy="17212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944" cy="1721234"/>
            </a:xfrm>
            <a:custGeom>
              <a:avLst/>
              <a:gdLst/>
              <a:ahLst/>
              <a:cxnLst/>
              <a:rect r="r" b="b" t="t" l="l"/>
              <a:pathLst>
                <a:path h="1721234" w="93944">
                  <a:moveTo>
                    <a:pt x="0" y="0"/>
                  </a:moveTo>
                  <a:lnTo>
                    <a:pt x="93944" y="0"/>
                  </a:lnTo>
                  <a:lnTo>
                    <a:pt x="93944" y="1721234"/>
                  </a:lnTo>
                  <a:lnTo>
                    <a:pt x="0" y="1721234"/>
                  </a:lnTo>
                  <a:close/>
                </a:path>
              </a:pathLst>
            </a:custGeom>
            <a:solidFill>
              <a:srgbClr val="3F91AB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431404" y="1927274"/>
            <a:ext cx="1318573" cy="1465081"/>
          </a:xfrm>
          <a:custGeom>
            <a:avLst/>
            <a:gdLst/>
            <a:ahLst/>
            <a:cxnLst/>
            <a:rect r="r" b="b" t="t" l="l"/>
            <a:pathLst>
              <a:path h="1465081" w="1318573">
                <a:moveTo>
                  <a:pt x="0" y="0"/>
                </a:moveTo>
                <a:lnTo>
                  <a:pt x="1318573" y="0"/>
                </a:lnTo>
                <a:lnTo>
                  <a:pt x="1318573" y="1465080"/>
                </a:lnTo>
                <a:lnTo>
                  <a:pt x="0" y="1465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401098" y="3766089"/>
            <a:ext cx="1377278" cy="1384199"/>
          </a:xfrm>
          <a:custGeom>
            <a:avLst/>
            <a:gdLst/>
            <a:ahLst/>
            <a:cxnLst/>
            <a:rect r="r" b="b" t="t" l="l"/>
            <a:pathLst>
              <a:path h="1384199" w="1377278">
                <a:moveTo>
                  <a:pt x="0" y="0"/>
                </a:moveTo>
                <a:lnTo>
                  <a:pt x="1377278" y="0"/>
                </a:lnTo>
                <a:lnTo>
                  <a:pt x="1377278" y="1384199"/>
                </a:lnTo>
                <a:lnTo>
                  <a:pt x="0" y="1384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411214" y="5598513"/>
            <a:ext cx="1397054" cy="1397054"/>
          </a:xfrm>
          <a:custGeom>
            <a:avLst/>
            <a:gdLst/>
            <a:ahLst/>
            <a:cxnLst/>
            <a:rect r="r" b="b" t="t" l="l"/>
            <a:pathLst>
              <a:path h="1397054" w="1397054">
                <a:moveTo>
                  <a:pt x="0" y="0"/>
                </a:moveTo>
                <a:lnTo>
                  <a:pt x="1397054" y="0"/>
                </a:lnTo>
                <a:lnTo>
                  <a:pt x="1397054" y="1397054"/>
                </a:lnTo>
                <a:lnTo>
                  <a:pt x="0" y="1397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431404" y="7544370"/>
            <a:ext cx="1376246" cy="1128522"/>
          </a:xfrm>
          <a:custGeom>
            <a:avLst/>
            <a:gdLst/>
            <a:ahLst/>
            <a:cxnLst/>
            <a:rect r="r" b="b" t="t" l="l"/>
            <a:pathLst>
              <a:path h="1128522" w="1376246">
                <a:moveTo>
                  <a:pt x="0" y="0"/>
                </a:moveTo>
                <a:lnTo>
                  <a:pt x="1376246" y="0"/>
                </a:lnTo>
                <a:lnTo>
                  <a:pt x="1376246" y="1128522"/>
                </a:lnTo>
                <a:lnTo>
                  <a:pt x="0" y="11285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452438"/>
            <a:ext cx="77670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1237241"/>
            <a:ext cx="899985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5E9EE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 E</a:t>
            </a:r>
            <a:r>
              <a:rPr lang="en-US" sz="1800">
                <a:solidFill>
                  <a:srgbClr val="E5E9EE"/>
                </a:solidFill>
                <a:latin typeface="Calibri (MS)"/>
                <a:ea typeface="Calibri (MS)"/>
                <a:cs typeface="Calibri (MS)"/>
                <a:sym typeface="Calibri (MS)"/>
              </a:rPr>
              <a:t>COTERRA: una solución centralizada para una gestión más eficiente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84372" y="2081694"/>
            <a:ext cx="4613436" cy="38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CENTRALIZACIÓN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84372" y="2556707"/>
            <a:ext cx="4613436" cy="60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Integrar clientes, productos, inventario, cotizaciones y facturación en un solo sistema.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84372" y="3914667"/>
            <a:ext cx="4613436" cy="38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AUTOMATIZACIÓN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84372" y="4389681"/>
            <a:ext cx="4613436" cy="60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Reducir la gestión manual y facilitar el control de los procesos operativos y comerciales.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84372" y="5728591"/>
            <a:ext cx="4613436" cy="38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APOYO A DECISIONES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84372" y="6203604"/>
            <a:ext cx="4613436" cy="60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Incorporar 3 modelos predictivos para estimar llegada, precios y reposición de stock.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84372" y="7561565"/>
            <a:ext cx="4613436" cy="38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RESULTADO ESPERADO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84372" y="8036578"/>
            <a:ext cx="461343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un </a:t>
            </a:r>
            <a:r>
              <a:rPr lang="en-US" sz="184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MVP funcional</a:t>
            </a: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, validado con Ecoterra y alineado con sus necesidades.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0" y="9161368"/>
            <a:ext cx="794163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5E9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Próximo paso</a:t>
            </a:r>
            <a:r>
              <a:rPr lang="en-US" sz="1800" b="true">
                <a:solidFill>
                  <a:srgbClr val="E5E9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 </a:t>
            </a:r>
            <a:r>
              <a:rPr lang="en-US" sz="1800">
                <a:solidFill>
                  <a:srgbClr val="E5E9EE"/>
                </a:solidFill>
                <a:latin typeface="Calibri (MS)"/>
                <a:ea typeface="Calibri (MS)"/>
                <a:cs typeface="Calibri (MS)"/>
                <a:sym typeface="Calibri (MS)"/>
              </a:rPr>
              <a:t>Iniciar el desarrollo incremental del sistema a partir de la planificación definida.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DAHTf9U1Ku8</dc:identifier>
  <dcterms:modified xsi:type="dcterms:W3CDTF">2011-08-01T06:04:30Z</dcterms:modified>
  <cp:revision>1</cp:revision>
  <dc:title>Presentacion_Proyecto</dc:title>
</cp:coreProperties>
</file>